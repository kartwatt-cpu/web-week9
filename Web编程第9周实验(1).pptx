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</p:sldMasterIdLst>
  <p:notesMasterIdLst>
    <p:notesMasterId r:id="rId25"/>
  </p:notesMasterIdLst>
  <p:handoutMasterIdLst>
    <p:handoutMasterId r:id="rId26"/>
  </p:handout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1" clrIdx="0"/>
  <p:cmAuthor id="2" name="Cai" initials="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gs" Target="tags/tag192.xml"/><Relationship Id="rId30" Type="http://schemas.openxmlformats.org/officeDocument/2006/relationships/commentAuthors" Target="commentAuthors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tags" Target="../tags/tag1.xml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image" Target="../media/image2.jpeg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0" Type="http://schemas.openxmlformats.org/officeDocument/2006/relationships/tags" Target="../tags/tag28.xm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tags" Target="../tags/tag105.xml"/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1" Type="http://schemas.openxmlformats.org/officeDocument/2006/relationships/tags" Target="../tags/tag108.xml"/><Relationship Id="rId10" Type="http://schemas.openxmlformats.org/officeDocument/2006/relationships/tags" Target="../tags/tag10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24.xml"/><Relationship Id="rId8" Type="http://schemas.openxmlformats.org/officeDocument/2006/relationships/tags" Target="../tags/tag123.xml"/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0" Type="http://schemas.openxmlformats.org/officeDocument/2006/relationships/tags" Target="../tags/tag1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33.xml"/><Relationship Id="rId8" Type="http://schemas.openxmlformats.org/officeDocument/2006/relationships/tags" Target="../tags/tag132.xml"/><Relationship Id="rId7" Type="http://schemas.openxmlformats.org/officeDocument/2006/relationships/tags" Target="../tags/tag131.xml"/><Relationship Id="rId6" Type="http://schemas.openxmlformats.org/officeDocument/2006/relationships/tags" Target="../tags/tag130.xml"/><Relationship Id="rId5" Type="http://schemas.openxmlformats.org/officeDocument/2006/relationships/tags" Target="../tags/tag129.xml"/><Relationship Id="rId4" Type="http://schemas.openxmlformats.org/officeDocument/2006/relationships/tags" Target="../tags/tag128.xml"/><Relationship Id="rId3" Type="http://schemas.openxmlformats.org/officeDocument/2006/relationships/tags" Target="../tags/tag127.xml"/><Relationship Id="rId2" Type="http://schemas.openxmlformats.org/officeDocument/2006/relationships/tags" Target="../tags/tag126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66.xml"/><Relationship Id="rId8" Type="http://schemas.openxmlformats.org/officeDocument/2006/relationships/tags" Target="../tags/tag165.xml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tags" Target="../tags/tag160.xml"/><Relationship Id="rId2" Type="http://schemas.openxmlformats.org/officeDocument/2006/relationships/tags" Target="../tags/tag159.xml"/><Relationship Id="rId14" Type="http://schemas.openxmlformats.org/officeDocument/2006/relationships/tags" Target="../tags/tag171.xml"/><Relationship Id="rId13" Type="http://schemas.openxmlformats.org/officeDocument/2006/relationships/tags" Target="../tags/tag170.xml"/><Relationship Id="rId12" Type="http://schemas.openxmlformats.org/officeDocument/2006/relationships/tags" Target="../tags/tag169.xml"/><Relationship Id="rId11" Type="http://schemas.openxmlformats.org/officeDocument/2006/relationships/tags" Target="../tags/tag168.xml"/><Relationship Id="rId10" Type="http://schemas.openxmlformats.org/officeDocument/2006/relationships/tags" Target="../tags/tag16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79.xml"/><Relationship Id="rId8" Type="http://schemas.openxmlformats.org/officeDocument/2006/relationships/tags" Target="../tags/tag178.xml"/><Relationship Id="rId7" Type="http://schemas.openxmlformats.org/officeDocument/2006/relationships/tags" Target="../tags/tag177.xml"/><Relationship Id="rId6" Type="http://schemas.openxmlformats.org/officeDocument/2006/relationships/tags" Target="../tags/tag176.xml"/><Relationship Id="rId5" Type="http://schemas.openxmlformats.org/officeDocument/2006/relationships/tags" Target="../tags/tag175.xml"/><Relationship Id="rId4" Type="http://schemas.openxmlformats.org/officeDocument/2006/relationships/tags" Target="../tags/tag174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5" Type="http://schemas.openxmlformats.org/officeDocument/2006/relationships/tags" Target="../tags/tag185.xml"/><Relationship Id="rId14" Type="http://schemas.openxmlformats.org/officeDocument/2006/relationships/tags" Target="../tags/tag184.xml"/><Relationship Id="rId13" Type="http://schemas.openxmlformats.org/officeDocument/2006/relationships/tags" Target="../tags/tag183.xml"/><Relationship Id="rId12" Type="http://schemas.openxmlformats.org/officeDocument/2006/relationships/tags" Target="../tags/tag182.xml"/><Relationship Id="rId11" Type="http://schemas.openxmlformats.org/officeDocument/2006/relationships/tags" Target="../tags/tag181.xml"/><Relationship Id="rId10" Type="http://schemas.openxmlformats.org/officeDocument/2006/relationships/tags" Target="../tags/tag18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5"/>
            </p:custDataLst>
          </p:nvPr>
        </p:nvSpPr>
        <p:spPr>
          <a:xfrm>
            <a:off x="5486847" y="2130501"/>
            <a:ext cx="6185195" cy="898964"/>
          </a:xfrm>
        </p:spPr>
        <p:txBody>
          <a:bodyPr lIns="90000" tIns="46800" rIns="90000" bIns="0" anchor="b" anchorCtr="0">
            <a:normAutofit/>
          </a:bodyPr>
          <a:lstStyle>
            <a:lvl1pPr algn="l">
              <a:defRPr sz="54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6"/>
            </p:custDataLst>
          </p:nvPr>
        </p:nvSpPr>
        <p:spPr>
          <a:xfrm>
            <a:off x="5486847" y="3406073"/>
            <a:ext cx="6246303" cy="474313"/>
          </a:xfrm>
        </p:spPr>
        <p:txBody>
          <a:bodyPr lIns="90000" tIns="0" rIns="90000" bIns="468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1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grpSp>
        <p:nvGrpSpPr>
          <p:cNvPr id="4" name="组合 3"/>
          <p:cNvGrpSpPr/>
          <p:nvPr userDrawn="1">
            <p:custDataLst>
              <p:tags r:id="rId7"/>
            </p:custDataLst>
          </p:nvPr>
        </p:nvGrpSpPr>
        <p:grpSpPr>
          <a:xfrm>
            <a:off x="-19745" y="0"/>
            <a:ext cx="11817587" cy="6892260"/>
            <a:chOff x="-19745" y="0"/>
            <a:chExt cx="11817586" cy="6892260"/>
          </a:xfrm>
        </p:grpSpPr>
        <p:sp>
          <p:nvSpPr>
            <p:cNvPr id="7" name="任意多边形: 形状 6"/>
            <p:cNvSpPr/>
            <p:nvPr userDrawn="1">
              <p:custDataLst>
                <p:tags r:id="rId8"/>
              </p:custDataLst>
            </p:nvPr>
          </p:nvSpPr>
          <p:spPr>
            <a:xfrm rot="10800000">
              <a:off x="-19745" y="0"/>
              <a:ext cx="2427300" cy="2764457"/>
            </a:xfrm>
            <a:custGeom>
              <a:avLst/>
              <a:gdLst>
                <a:gd name="connsiteX0" fmla="*/ 2427300 w 2427300"/>
                <a:gd name="connsiteY0" fmla="*/ 2764457 h 2764457"/>
                <a:gd name="connsiteX1" fmla="*/ 0 w 2427300"/>
                <a:gd name="connsiteY1" fmla="*/ 2764457 h 2764457"/>
                <a:gd name="connsiteX2" fmla="*/ 1742483 w 2427300"/>
                <a:gd name="connsiteY2" fmla="*/ 0 h 2764457"/>
                <a:gd name="connsiteX3" fmla="*/ 2427300 w 2427300"/>
                <a:gd name="connsiteY3" fmla="*/ 1086466 h 27644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7300" h="2764457">
                  <a:moveTo>
                    <a:pt x="2427300" y="2764457"/>
                  </a:moveTo>
                  <a:lnTo>
                    <a:pt x="0" y="2764457"/>
                  </a:lnTo>
                  <a:lnTo>
                    <a:pt x="1742483" y="0"/>
                  </a:lnTo>
                  <a:lnTo>
                    <a:pt x="2427300" y="1086466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任意多边形: 形状 7"/>
            <p:cNvSpPr/>
            <p:nvPr userDrawn="1">
              <p:custDataLst>
                <p:tags r:id="rId9"/>
              </p:custDataLst>
            </p:nvPr>
          </p:nvSpPr>
          <p:spPr>
            <a:xfrm>
              <a:off x="-19744" y="3106180"/>
              <a:ext cx="2880823" cy="3786080"/>
            </a:xfrm>
            <a:custGeom>
              <a:avLst/>
              <a:gdLst>
                <a:gd name="connsiteX0" fmla="*/ 684897 w 2880823"/>
                <a:gd name="connsiteY0" fmla="*/ 0 h 3786080"/>
                <a:gd name="connsiteX1" fmla="*/ 2880823 w 2880823"/>
                <a:gd name="connsiteY1" fmla="*/ 3786080 h 3786080"/>
                <a:gd name="connsiteX2" fmla="*/ 0 w 2880823"/>
                <a:gd name="connsiteY2" fmla="*/ 3786080 h 3786080"/>
                <a:gd name="connsiteX3" fmla="*/ 0 w 2880823"/>
                <a:gd name="connsiteY3" fmla="*/ 1180857 h 3786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880823" h="3786080">
                  <a:moveTo>
                    <a:pt x="684897" y="0"/>
                  </a:moveTo>
                  <a:lnTo>
                    <a:pt x="2880823" y="3786080"/>
                  </a:lnTo>
                  <a:lnTo>
                    <a:pt x="0" y="3786080"/>
                  </a:lnTo>
                  <a:lnTo>
                    <a:pt x="0" y="118085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任意多边形: 形状 8"/>
            <p:cNvSpPr/>
            <p:nvPr userDrawn="1">
              <p:custDataLst>
                <p:tags r:id="rId10"/>
              </p:custDataLst>
            </p:nvPr>
          </p:nvSpPr>
          <p:spPr>
            <a:xfrm rot="5400000">
              <a:off x="-712814" y="2685879"/>
              <a:ext cx="1978851" cy="592710"/>
            </a:xfrm>
            <a:custGeom>
              <a:avLst/>
              <a:gdLst>
                <a:gd name="connsiteX0" fmla="*/ 0 w 1978851"/>
                <a:gd name="connsiteY0" fmla="*/ 592710 h 592710"/>
                <a:gd name="connsiteX1" fmla="*/ 989425 w 1978851"/>
                <a:gd name="connsiteY1" fmla="*/ 0 h 592710"/>
                <a:gd name="connsiteX2" fmla="*/ 1978851 w 1978851"/>
                <a:gd name="connsiteY2" fmla="*/ 592710 h 592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78851" h="592710">
                  <a:moveTo>
                    <a:pt x="0" y="592710"/>
                  </a:moveTo>
                  <a:lnTo>
                    <a:pt x="989425" y="0"/>
                  </a:lnTo>
                  <a:lnTo>
                    <a:pt x="1978851" y="5927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11"/>
            <p:cNvSpPr/>
            <p:nvPr userDrawn="1">
              <p:custDataLst>
                <p:tags r:id="rId11"/>
              </p:custDataLst>
            </p:nvPr>
          </p:nvSpPr>
          <p:spPr>
            <a:xfrm>
              <a:off x="2861079" y="5298431"/>
              <a:ext cx="1848842" cy="159382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13"/>
            <p:cNvSpPr/>
            <p:nvPr userDrawn="1">
              <p:custDataLst>
                <p:tags r:id="rId12"/>
              </p:custDataLst>
            </p:nvPr>
          </p:nvSpPr>
          <p:spPr>
            <a:xfrm rot="3600000">
              <a:off x="1132840" y="1963551"/>
              <a:ext cx="3794133" cy="3270803"/>
            </a:xfrm>
            <a:prstGeom prst="triangle">
              <a:avLst/>
            </a:prstGeom>
            <a:blipFill dpi="0" rotWithShape="0">
              <a:blip r:embed="rId13"/>
              <a:srcRect/>
              <a:stretch>
                <a:fillRect t="1000" b="-2000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grpSp>
          <p:nvGrpSpPr>
            <p:cNvPr id="12" name="组合 11"/>
            <p:cNvGrpSpPr/>
            <p:nvPr userDrawn="1">
              <p:custDataLst>
                <p:tags r:id="rId14"/>
              </p:custDataLst>
            </p:nvPr>
          </p:nvGrpSpPr>
          <p:grpSpPr>
            <a:xfrm>
              <a:off x="11668459" y="549424"/>
              <a:ext cx="129382" cy="473109"/>
              <a:chOff x="11537206" y="483307"/>
              <a:chExt cx="201523" cy="736906"/>
            </a:xfrm>
            <a:solidFill>
              <a:schemeClr val="accent1"/>
            </a:solidFill>
          </p:grpSpPr>
          <p:sp>
            <p:nvSpPr>
              <p:cNvPr id="13" name="椭圆 12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537206" y="483307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4" name="椭圆 13"/>
              <p:cNvSpPr/>
              <p:nvPr>
                <p:custDataLst>
                  <p:tags r:id="rId16"/>
                </p:custDataLst>
              </p:nvPr>
            </p:nvSpPr>
            <p:spPr>
              <a:xfrm>
                <a:off x="11537207" y="744908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15" name="椭圆 14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542786" y="1024270"/>
                <a:ext cx="195943" cy="195943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350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</p:grpSp>
        <p:sp>
          <p:nvSpPr>
            <p:cNvPr id="19" name="圆角矩形 20"/>
            <p:cNvSpPr/>
            <p:nvPr userDrawn="1">
              <p:custDataLst>
                <p:tags r:id="rId18"/>
              </p:custDataLst>
            </p:nvPr>
          </p:nvSpPr>
          <p:spPr>
            <a:xfrm>
              <a:off x="5633482" y="3158748"/>
              <a:ext cx="1163781" cy="74822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22" name="三角形 12"/>
            <p:cNvSpPr/>
            <p:nvPr userDrawn="1">
              <p:custDataLst>
                <p:tags r:id="rId19"/>
              </p:custDataLst>
            </p:nvPr>
          </p:nvSpPr>
          <p:spPr>
            <a:xfrm rot="3600000">
              <a:off x="1574330" y="1748429"/>
              <a:ext cx="3794133" cy="327080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20"/>
            </p:custDataLst>
          </p:nvPr>
        </p:nvSpPr>
        <p:spPr>
          <a:xfrm>
            <a:off x="9876791" y="5137309"/>
            <a:ext cx="1864995" cy="404813"/>
          </a:xfrm>
        </p:spPr>
        <p:txBody>
          <a:bodyPr lIns="90000" tIns="46800" rIns="90000" bIns="0" anchor="b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4" hasCustomPrompt="1"/>
            <p:custDataLst>
              <p:tags r:id="rId21"/>
            </p:custDataLst>
          </p:nvPr>
        </p:nvSpPr>
        <p:spPr>
          <a:xfrm>
            <a:off x="9876791" y="5717064"/>
            <a:ext cx="1864995" cy="404813"/>
          </a:xfrm>
        </p:spPr>
        <p:txBody>
          <a:bodyPr lIns="90000" tIns="0" rIns="90000" bIns="46800" anchor="t" anchorCtr="0"/>
          <a:lstStyle>
            <a:lvl1pPr marL="0" indent="0">
              <a:buNone/>
              <a:defRPr sz="15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360000" y="360000"/>
            <a:ext cx="11520000" cy="720000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360000" y="1260000"/>
            <a:ext cx="11520000" cy="5040000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0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36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480000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280000" y="6480000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 userDrawn="1">
            <p:custDataLst>
              <p:tags r:id="rId2"/>
            </p:custDataLst>
          </p:nvPr>
        </p:nvGrpSpPr>
        <p:grpSpPr>
          <a:xfrm>
            <a:off x="528157" y="0"/>
            <a:ext cx="11663843" cy="6892260"/>
            <a:chOff x="528157" y="0"/>
            <a:chExt cx="11663843" cy="6892260"/>
          </a:xfrm>
        </p:grpSpPr>
        <p:sp>
          <p:nvSpPr>
            <p:cNvPr id="7" name="三角形 6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28157" y="0"/>
              <a:ext cx="2080887" cy="165067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7"/>
            <p:cNvSpPr/>
            <p:nvPr userDrawn="1">
              <p:custDataLst>
                <p:tags r:id="rId4"/>
              </p:custDataLst>
            </p:nvPr>
          </p:nvSpPr>
          <p:spPr>
            <a:xfrm>
              <a:off x="9227714" y="5093898"/>
              <a:ext cx="2086099" cy="1798361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8"/>
            <p:cNvSpPr/>
            <p:nvPr userDrawn="1">
              <p:custDataLst>
                <p:tags r:id="rId5"/>
              </p:custDataLst>
            </p:nvPr>
          </p:nvSpPr>
          <p:spPr>
            <a:xfrm>
              <a:off x="11313813" y="6135202"/>
              <a:ext cx="878187" cy="757058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9"/>
            <p:cNvSpPr/>
            <p:nvPr userDrawn="1">
              <p:custDataLst>
                <p:tags r:id="rId6"/>
              </p:custDataLst>
            </p:nvPr>
          </p:nvSpPr>
          <p:spPr>
            <a:xfrm>
              <a:off x="2133732" y="1992725"/>
              <a:ext cx="2699999" cy="232758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992979" y="3109836"/>
            <a:ext cx="4846987" cy="584007"/>
          </a:xfrm>
        </p:spPr>
        <p:txBody>
          <a:bodyPr lIns="90000" tIns="46800" rIns="90000" bIns="0" anchor="b" anchorCtr="0">
            <a:normAutofit/>
          </a:bodyPr>
          <a:lstStyle>
            <a:lvl1pPr>
              <a:defRPr sz="270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8"/>
            </p:custDataLst>
          </p:nvPr>
        </p:nvSpPr>
        <p:spPr>
          <a:xfrm>
            <a:off x="4992979" y="3949176"/>
            <a:ext cx="4846987" cy="584007"/>
          </a:xfrm>
        </p:spPr>
        <p:txBody>
          <a:bodyPr lIns="90000" tIns="0" rIns="90000" bIns="46800">
            <a:normAutofit/>
          </a:bodyPr>
          <a:lstStyle>
            <a:lvl1pPr marL="0" indent="0" eaLnBrk="1" fontAlgn="auto" latinLnBrk="0" hangingPunct="1">
              <a:buNone/>
              <a:defRPr kumimoji="0" lang="zh-CN" altLang="en-US" sz="135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685800" marR="0" lvl="2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028700" marR="0" lvl="3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371600" marR="0" lvl="4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238877" y="1626121"/>
            <a:ext cx="5283243" cy="40416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1" name="任意多边形: 形状 10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3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881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669929" y="1000133"/>
            <a:ext cx="5283243" cy="285752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8"/>
            </p:custDataLst>
          </p:nvPr>
        </p:nvSpPr>
        <p:spPr>
          <a:xfrm>
            <a:off x="669925" y="2023369"/>
            <a:ext cx="5283200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9"/>
            </p:custDataLst>
          </p:nvPr>
        </p:nvSpPr>
        <p:spPr>
          <a:xfrm>
            <a:off x="6235749" y="1000133"/>
            <a:ext cx="5283243" cy="285752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0"/>
            </p:custDataLst>
          </p:nvPr>
        </p:nvSpPr>
        <p:spPr>
          <a:xfrm>
            <a:off x="6235749" y="2023369"/>
            <a:ext cx="5283243" cy="3701064"/>
          </a:xfrm>
        </p:spPr>
        <p:txBody>
          <a:bodyPr vert="horz" lIns="101600" tIns="0" rIns="82550" bIns="0" rtlCol="0">
            <a:no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2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 lIns="90000" tIns="46800" rIns="90000" bIns="46800"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1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669929" y="498479"/>
            <a:ext cx="10852237" cy="33147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7"/>
            </p:custDataLst>
          </p:nvPr>
        </p:nvSpPr>
        <p:spPr>
          <a:xfrm>
            <a:off x="669929" y="1626121"/>
            <a:ext cx="5283243" cy="404168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8"/>
            </p:custDataLst>
          </p:nvPr>
        </p:nvSpPr>
        <p:spPr>
          <a:xfrm>
            <a:off x="6238925" y="1626121"/>
            <a:ext cx="5283243" cy="4041680"/>
          </a:xfrm>
        </p:spPr>
        <p:txBody>
          <a:bodyPr vert="horz" lIns="101600" tIns="0" rIns="82550" bIns="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6"/>
            </p:custDataLst>
          </p:nvPr>
        </p:nvSpPr>
        <p:spPr>
          <a:xfrm>
            <a:off x="10571135" y="1626121"/>
            <a:ext cx="950984" cy="4041680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7"/>
            </p:custDataLst>
          </p:nvPr>
        </p:nvSpPr>
        <p:spPr>
          <a:xfrm>
            <a:off x="669925" y="1626113"/>
            <a:ext cx="9828101" cy="4041680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10638975" y="5416759"/>
            <a:ext cx="1553024" cy="1432837"/>
            <a:chOff x="10898426" y="5656127"/>
            <a:chExt cx="1293583" cy="1193474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10898426" y="6156793"/>
              <a:ext cx="678847" cy="69280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20" y="5656127"/>
              <a:ext cx="771189" cy="1193474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0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669929" y="1626121"/>
            <a:ext cx="10852237" cy="404168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>
            <a:off x="3028067" y="0"/>
            <a:ext cx="6276189" cy="6858000"/>
            <a:chOff x="3028067" y="0"/>
            <a:chExt cx="6276189" cy="6858000"/>
          </a:xfrm>
        </p:grpSpPr>
        <p:sp>
          <p:nvSpPr>
            <p:cNvPr id="6" name="三角形 3"/>
            <p:cNvSpPr/>
            <p:nvPr userDrawn="1">
              <p:custDataLst>
                <p:tags r:id="rId3"/>
              </p:custDataLst>
            </p:nvPr>
          </p:nvSpPr>
          <p:spPr>
            <a:xfrm rot="10800000">
              <a:off x="5055555" y="0"/>
              <a:ext cx="2080887" cy="165067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7" name="任意多边形: 形状 6"/>
            <p:cNvSpPr/>
            <p:nvPr userDrawn="1">
              <p:custDataLst>
                <p:tags r:id="rId4"/>
              </p:custDataLst>
            </p:nvPr>
          </p:nvSpPr>
          <p:spPr>
            <a:xfrm>
              <a:off x="5676777" y="6135202"/>
              <a:ext cx="838445" cy="722798"/>
            </a:xfrm>
            <a:custGeom>
              <a:avLst/>
              <a:gdLst>
                <a:gd name="connsiteX0" fmla="*/ 419223 w 838445"/>
                <a:gd name="connsiteY0" fmla="*/ 0 h 722798"/>
                <a:gd name="connsiteX1" fmla="*/ 838445 w 838445"/>
                <a:gd name="connsiteY1" fmla="*/ 722798 h 722798"/>
                <a:gd name="connsiteX2" fmla="*/ 0 w 838445"/>
                <a:gd name="connsiteY2" fmla="*/ 722798 h 722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38445" h="722798">
                  <a:moveTo>
                    <a:pt x="419223" y="0"/>
                  </a:moveTo>
                  <a:lnTo>
                    <a:pt x="838445" y="722798"/>
                  </a:lnTo>
                  <a:lnTo>
                    <a:pt x="0" y="72279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8" name="三角形 5"/>
            <p:cNvSpPr/>
            <p:nvPr userDrawn="1">
              <p:custDataLst>
                <p:tags r:id="rId5"/>
              </p:custDataLst>
            </p:nvPr>
          </p:nvSpPr>
          <p:spPr>
            <a:xfrm>
              <a:off x="3028067" y="2477828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9" name="三角形 6"/>
            <p:cNvSpPr/>
            <p:nvPr userDrawn="1">
              <p:custDataLst>
                <p:tags r:id="rId6"/>
              </p:custDataLst>
            </p:nvPr>
          </p:nvSpPr>
          <p:spPr>
            <a:xfrm rot="2748548">
              <a:off x="8939137" y="3459125"/>
              <a:ext cx="392165" cy="338073"/>
            </a:xfrm>
            <a:prstGeom prst="triangle">
              <a:avLst/>
            </a:pr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3420232" y="2917321"/>
            <a:ext cx="5352795" cy="900247"/>
          </a:xfrm>
        </p:spPr>
        <p:txBody>
          <a:bodyPr vert="horz" lIns="90000" tIns="46800" rIns="90000" bIns="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495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3419475" y="4115997"/>
            <a:ext cx="5457825" cy="541734"/>
          </a:xfrm>
        </p:spPr>
        <p:txBody>
          <a:bodyPr lIns="91440" tIns="0" rIns="91440" bIns="45720"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spc="300" baseline="0"/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3" name="任意多边形: 形状 12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 </a:t>
              </a:r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8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  <p:sp>
          <p:nvSpPr>
            <p:cNvPr id="19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>
                <a:solidFill>
                  <a:schemeClr val="tx1">
                    <a:lumMod val="85000"/>
                    <a:lumOff val="15000"/>
                  </a:schemeClr>
                </a:solidFill>
              </a:endParaRPr>
            </a:p>
          </p:txBody>
        </p:sp>
      </p:grp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69881" y="498476"/>
            <a:ext cx="10852237" cy="33147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1" cy="62496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 baseline="0">
              <a:solidFill>
                <a:schemeClr val="tx1">
                  <a:lumMod val="85000"/>
                  <a:lumOff val="15000"/>
                </a:schemeClr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" name="三角形 6"/>
          <p:cNvSpPr/>
          <p:nvPr userDrawn="1">
            <p:custDataLst>
              <p:tags r:id="rId3"/>
            </p:custDataLst>
          </p:nvPr>
        </p:nvSpPr>
        <p:spPr>
          <a:xfrm rot="10800000">
            <a:off x="240665" y="0"/>
            <a:ext cx="1268731" cy="825500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1" name="三角形 7"/>
          <p:cNvSpPr/>
          <p:nvPr userDrawn="1">
            <p:custDataLst>
              <p:tags r:id="rId4"/>
            </p:custDataLst>
          </p:nvPr>
        </p:nvSpPr>
        <p:spPr>
          <a:xfrm>
            <a:off x="10157460" y="5823585"/>
            <a:ext cx="1449071" cy="102997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三角形 8"/>
          <p:cNvSpPr/>
          <p:nvPr userDrawn="1">
            <p:custDataLst>
              <p:tags r:id="rId5"/>
            </p:custDataLst>
          </p:nvPr>
        </p:nvSpPr>
        <p:spPr>
          <a:xfrm>
            <a:off x="11200765" y="6153150"/>
            <a:ext cx="991235" cy="70485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35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kumimoji="1" lang="zh-CN" altLang="en-US" sz="135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6"/>
            </p:custDataLst>
          </p:nvPr>
        </p:nvSpPr>
        <p:spPr>
          <a:xfrm>
            <a:off x="1281600" y="1339650"/>
            <a:ext cx="9626400" cy="5427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 hasCustomPrompt="1"/>
            <p:custDataLst>
              <p:tags r:id="rId7"/>
            </p:custDataLst>
          </p:nvPr>
        </p:nvSpPr>
        <p:spPr>
          <a:xfrm>
            <a:off x="1281113" y="2594250"/>
            <a:ext cx="9626600" cy="2583900"/>
          </a:xfrm>
        </p:spPr>
        <p:txBody>
          <a:bodyPr>
            <a:normAutofit/>
          </a:bodyPr>
          <a:lstStyle>
            <a:lvl1pPr marL="0" indent="0">
              <a:buNone/>
              <a:defRPr sz="1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3"/>
          <p:cNvGrpSpPr/>
          <p:nvPr userDrawn="1">
            <p:custDataLst>
              <p:tags r:id="rId3"/>
            </p:custDataLst>
          </p:nvPr>
        </p:nvGrpSpPr>
        <p:grpSpPr>
          <a:xfrm>
            <a:off x="-1" y="5207000"/>
            <a:ext cx="1807912" cy="1667994"/>
            <a:chOff x="-1" y="5000255"/>
            <a:chExt cx="2032000" cy="1874739"/>
          </a:xfrm>
        </p:grpSpPr>
        <p:sp>
          <p:nvSpPr>
            <p:cNvPr id="15" name="任意多边形: 形状 14"/>
            <p:cNvSpPr/>
            <p:nvPr>
              <p:custDataLst>
                <p:tags r:id="rId4"/>
              </p:custDataLst>
            </p:nvPr>
          </p:nvSpPr>
          <p:spPr>
            <a:xfrm flipH="1">
              <a:off x="965649" y="5786718"/>
              <a:ext cx="1066350" cy="108827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>
                <a:alpha val="2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-1" y="5000255"/>
              <a:ext cx="1211405" cy="1874739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3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594749" y="5786311"/>
              <a:ext cx="636641" cy="472228"/>
            </a:xfrm>
            <a:prstGeom prst="triangle">
              <a:avLst/>
            </a:prstGeom>
            <a:solidFill>
              <a:schemeClr val="accent3">
                <a:alpha val="5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7"/>
            </p:custDataLst>
          </p:nvPr>
        </p:nvSpPr>
        <p:spPr>
          <a:xfrm>
            <a:off x="583200" y="880650"/>
            <a:ext cx="3960000" cy="661500"/>
          </a:xfrm>
        </p:spPr>
        <p:txBody>
          <a:bodyPr anchor="ctr">
            <a:normAutofit/>
          </a:bodyPr>
          <a:lstStyle>
            <a:lvl1pPr>
              <a:defRPr sz="2400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586800" y="2275650"/>
            <a:ext cx="3956400" cy="3069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6858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0287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371600" indent="0">
              <a:lnSpc>
                <a:spcPct val="130000"/>
              </a:lnSpc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5101200" y="1405930"/>
            <a:ext cx="6480000" cy="3815953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5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6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12000" y="859500"/>
            <a:ext cx="10976400" cy="469800"/>
          </a:xfrm>
        </p:spPr>
        <p:txBody>
          <a:bodyPr anchor="ctr"/>
          <a:lstStyle>
            <a:lvl1pPr algn="ctr">
              <a:defRPr sz="27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1"/>
            </p:custDataLst>
          </p:nvPr>
        </p:nvSpPr>
        <p:spPr>
          <a:xfrm>
            <a:off x="612000" y="1763100"/>
            <a:ext cx="10975975" cy="621000"/>
          </a:xfrm>
        </p:spPr>
        <p:txBody>
          <a:bodyPr>
            <a:normAutofit/>
          </a:bodyPr>
          <a:lstStyle>
            <a:lvl1pPr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12"/>
            </p:custDataLst>
          </p:nvPr>
        </p:nvSpPr>
        <p:spPr>
          <a:xfrm>
            <a:off x="612775" y="3236850"/>
            <a:ext cx="10965600" cy="25731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>
            <p:custDataLst>
              <p:tags r:id="rId2"/>
            </p:custDataLst>
          </p:nvPr>
        </p:nvGrpSpPr>
        <p:grpSpPr>
          <a:xfrm rot="10800000" flipH="1">
            <a:off x="10638971" y="0"/>
            <a:ext cx="1553029" cy="1432837"/>
            <a:chOff x="10898414" y="5656121"/>
            <a:chExt cx="1293586" cy="1193473"/>
          </a:xfrm>
        </p:grpSpPr>
        <p:sp>
          <p:nvSpPr>
            <p:cNvPr id="16" name="任意多边形: 形状 15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8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6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604800" y="740250"/>
            <a:ext cx="10976400" cy="423900"/>
          </a:xfrm>
        </p:spPr>
        <p:txBody>
          <a:bodyPr lIns="90000" tIns="46800" rIns="90000" bIns="46800" anchor="ctr">
            <a:normAutofit/>
          </a:bodyPr>
          <a:lstStyle>
            <a:lvl1pPr algn="ctr">
              <a:lnSpc>
                <a:spcPct val="100000"/>
              </a:lnSpc>
              <a:defRPr sz="24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1"/>
            </p:custDataLst>
          </p:nvPr>
        </p:nvSpPr>
        <p:spPr>
          <a:xfrm>
            <a:off x="604837" y="2082600"/>
            <a:ext cx="10990800" cy="2408400"/>
          </a:xfrm>
        </p:spPr>
        <p:txBody>
          <a:bodyPr lIns="90000" tIns="46800" rIns="90000" bIns="46800"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2"/>
            </p:custDataLst>
          </p:nvPr>
        </p:nvSpPr>
        <p:spPr>
          <a:xfrm>
            <a:off x="594000" y="5306850"/>
            <a:ext cx="11001600" cy="758700"/>
          </a:xfrm>
        </p:spPr>
        <p:txBody>
          <a:bodyPr lIns="90000" tIns="46800" rIns="90000" bIns="46800"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>
            <a:off x="10638971" y="5416757"/>
            <a:ext cx="1553029" cy="1432837"/>
            <a:chOff x="10898414" y="5656121"/>
            <a:chExt cx="1293586" cy="1193473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10898414" y="6156789"/>
              <a:ext cx="678846" cy="692805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6" name="三角形 7"/>
            <p:cNvSpPr/>
            <p:nvPr>
              <p:custDataLst>
                <p:tags r:id="rId4"/>
              </p:custDataLst>
            </p:nvPr>
          </p:nvSpPr>
          <p:spPr>
            <a:xfrm>
              <a:off x="11420811" y="5656121"/>
              <a:ext cx="771189" cy="1193473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7" name="三角形 8"/>
            <p:cNvSpPr/>
            <p:nvPr>
              <p:custDataLst>
                <p:tags r:id="rId5"/>
              </p:custDataLst>
            </p:nvPr>
          </p:nvSpPr>
          <p:spPr>
            <a:xfrm rot="10800000">
              <a:off x="11408088" y="6156530"/>
              <a:ext cx="405290" cy="300624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79600" y="292846"/>
            <a:ext cx="11037600" cy="33147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8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2025000"/>
            <a:ext cx="5342400" cy="2170800"/>
          </a:xfrm>
        </p:spPr>
        <p:txBody>
          <a:bodyPr/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2"/>
            </p:custDataLst>
          </p:nvPr>
        </p:nvSpPr>
        <p:spPr>
          <a:xfrm>
            <a:off x="6242400" y="2025000"/>
            <a:ext cx="5367600" cy="2170800"/>
          </a:xfrm>
        </p:spPr>
        <p:txBody>
          <a:bodyPr>
            <a:normAutofit/>
          </a:bodyPr>
          <a:lstStyle>
            <a:lvl1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lnSpc>
                <a:spcPct val="130000"/>
              </a:lnSpc>
              <a:spcAft>
                <a:spcPts val="1000"/>
              </a:spcAft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3"/>
            </p:custDataLst>
          </p:nvPr>
        </p:nvSpPr>
        <p:spPr>
          <a:xfrm>
            <a:off x="572400" y="4914450"/>
            <a:ext cx="53424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4"/>
            </p:custDataLst>
          </p:nvPr>
        </p:nvSpPr>
        <p:spPr>
          <a:xfrm>
            <a:off x="6253200" y="4910850"/>
            <a:ext cx="5367600" cy="5859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1576668"/>
            <a:ext cx="12192000" cy="3704665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sz="1350" baseline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9" name="组合 18"/>
          <p:cNvGrpSpPr/>
          <p:nvPr userDrawn="1">
            <p:custDataLst>
              <p:tags r:id="rId3"/>
            </p:custDataLst>
          </p:nvPr>
        </p:nvGrpSpPr>
        <p:grpSpPr>
          <a:xfrm>
            <a:off x="0" y="4462145"/>
            <a:ext cx="2067560" cy="2386965"/>
            <a:chOff x="0" y="4462199"/>
            <a:chExt cx="2587015" cy="2386801"/>
          </a:xfrm>
        </p:grpSpPr>
        <p:sp>
          <p:nvSpPr>
            <p:cNvPr id="20" name="任意多边形: 形状 19"/>
            <p:cNvSpPr/>
            <p:nvPr>
              <p:custDataLst>
                <p:tags r:id="rId4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1" name="三角形 7"/>
            <p:cNvSpPr/>
            <p:nvPr>
              <p:custDataLst>
                <p:tags r:id="rId5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" name="三角形 8"/>
            <p:cNvSpPr/>
            <p:nvPr>
              <p:custDataLst>
                <p:tags r:id="rId6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7"/>
            </p:custDataLst>
          </p:nvPr>
        </p:nvGrpSpPr>
        <p:grpSpPr>
          <a:xfrm rot="10800000">
            <a:off x="10121900" y="0"/>
            <a:ext cx="2067560" cy="2386965"/>
            <a:chOff x="0" y="4462199"/>
            <a:chExt cx="2587015" cy="2386801"/>
          </a:xfrm>
        </p:grpSpPr>
        <p:sp>
          <p:nvSpPr>
            <p:cNvPr id="24" name="任意多边形: 形状 23"/>
            <p:cNvSpPr/>
            <p:nvPr>
              <p:custDataLst>
                <p:tags r:id="rId8"/>
              </p:custDataLst>
            </p:nvPr>
          </p:nvSpPr>
          <p:spPr>
            <a:xfrm flipH="1">
              <a:off x="1229405" y="5463474"/>
              <a:ext cx="1357610" cy="1385526"/>
            </a:xfrm>
            <a:custGeom>
              <a:avLst/>
              <a:gdLst>
                <a:gd name="connsiteX0" fmla="*/ 551985 w 826176"/>
                <a:gd name="connsiteY0" fmla="*/ 0 h 843164"/>
                <a:gd name="connsiteX1" fmla="*/ 826176 w 826176"/>
                <a:gd name="connsiteY1" fmla="*/ 418831 h 843164"/>
                <a:gd name="connsiteX2" fmla="*/ 551984 w 826176"/>
                <a:gd name="connsiteY2" fmla="*/ 843164 h 843164"/>
                <a:gd name="connsiteX3" fmla="*/ 0 w 826176"/>
                <a:gd name="connsiteY3" fmla="*/ 843164 h 84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6176" h="843164">
                  <a:moveTo>
                    <a:pt x="551985" y="0"/>
                  </a:moveTo>
                  <a:lnTo>
                    <a:pt x="826176" y="418831"/>
                  </a:lnTo>
                  <a:lnTo>
                    <a:pt x="551984" y="843164"/>
                  </a:lnTo>
                  <a:lnTo>
                    <a:pt x="0" y="84316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r>
                <a:rPr kumimoji="1" lang="zh-CN" altLang="en-US" sz="1350" baseline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</a:rPr>
                <a:t> </a:t>
              </a:r>
              <a:endParaRPr kumimoji="1" lang="zh-CN" altLang="en-US" sz="13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5" name="三角形 7"/>
            <p:cNvSpPr/>
            <p:nvPr>
              <p:custDataLst>
                <p:tags r:id="rId9"/>
              </p:custDataLst>
            </p:nvPr>
          </p:nvSpPr>
          <p:spPr>
            <a:xfrm flipH="1">
              <a:off x="0" y="4462199"/>
              <a:ext cx="1542284" cy="238680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6" name="三角形 8"/>
            <p:cNvSpPr/>
            <p:nvPr>
              <p:custDataLst>
                <p:tags r:id="rId10"/>
              </p:custDataLst>
            </p:nvPr>
          </p:nvSpPr>
          <p:spPr>
            <a:xfrm rot="10800000" flipH="1">
              <a:off x="757198" y="5462956"/>
              <a:ext cx="810531" cy="601211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3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11"/>
            </p:custDataLst>
          </p:nvPr>
        </p:nvSpPr>
        <p:spPr>
          <a:xfrm>
            <a:off x="1522800" y="1637550"/>
            <a:ext cx="9144000" cy="1790100"/>
          </a:xfrm>
        </p:spPr>
        <p:txBody>
          <a:bodyPr lIns="90000" tIns="46800" rIns="90000" bIns="46800" anchor="b">
            <a:normAutofit/>
          </a:bodyPr>
          <a:lstStyle>
            <a:lvl1pPr algn="ctr">
              <a:defRPr sz="4500" b="1" strike="noStrike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>
          <a:xfrm>
            <a:off x="429743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3"/>
            </p:custDataLst>
          </p:nvPr>
        </p:nvSpPr>
        <p:spPr>
          <a:xfrm>
            <a:off x="3456000" y="6349833"/>
            <a:ext cx="528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4"/>
            </p:custDataLst>
          </p:nvPr>
        </p:nvSpPr>
        <p:spPr>
          <a:xfrm>
            <a:off x="8160600" y="6349833"/>
            <a:ext cx="3600000" cy="316800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5"/>
            </p:custDataLst>
          </p:nvPr>
        </p:nvSpPr>
        <p:spPr>
          <a:xfrm>
            <a:off x="1522413" y="4069800"/>
            <a:ext cx="9144000" cy="12420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200" spc="15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1117600" y="6356351"/>
            <a:ext cx="36576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384800" y="6356351"/>
            <a:ext cx="54864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480800" y="6356351"/>
            <a:ext cx="36576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18708" y="98448"/>
            <a:ext cx="10348383" cy="75723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67833" y="1081089"/>
            <a:ext cx="11142133" cy="50561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.xml"/><Relationship Id="rId8" Type="http://schemas.openxmlformats.org/officeDocument/2006/relationships/slideLayout" Target="../slideLayouts/slideLayout10.xml"/><Relationship Id="rId7" Type="http://schemas.openxmlformats.org/officeDocument/2006/relationships/slideLayout" Target="../slideLayouts/slideLayout9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8" Type="http://schemas.openxmlformats.org/officeDocument/2006/relationships/theme" Target="../theme/theme2.xml"/><Relationship Id="rId27" Type="http://schemas.openxmlformats.org/officeDocument/2006/relationships/tags" Target="../tags/tag191.xml"/><Relationship Id="rId26" Type="http://schemas.openxmlformats.org/officeDocument/2006/relationships/tags" Target="../tags/tag190.xml"/><Relationship Id="rId25" Type="http://schemas.openxmlformats.org/officeDocument/2006/relationships/tags" Target="../tags/tag189.xml"/><Relationship Id="rId24" Type="http://schemas.openxmlformats.org/officeDocument/2006/relationships/tags" Target="../tags/tag188.xml"/><Relationship Id="rId23" Type="http://schemas.openxmlformats.org/officeDocument/2006/relationships/tags" Target="../tags/tag187.xml"/><Relationship Id="rId22" Type="http://schemas.openxmlformats.org/officeDocument/2006/relationships/tags" Target="../tags/tag186.xml"/><Relationship Id="rId21" Type="http://schemas.openxmlformats.org/officeDocument/2006/relationships/image" Target="../media/image1.png"/><Relationship Id="rId20" Type="http://schemas.openxmlformats.org/officeDocument/2006/relationships/slideLayout" Target="../slideLayouts/slideLayout22.xml"/><Relationship Id="rId2" Type="http://schemas.openxmlformats.org/officeDocument/2006/relationships/slideLayout" Target="../slideLayouts/slideLayout4.xml"/><Relationship Id="rId19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0040" y="219075"/>
            <a:ext cx="11821160" cy="691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405" y="1100455"/>
            <a:ext cx="11821795" cy="5259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19405" y="64331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42175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391015" y="642175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7594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518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67790" indent="-228600" algn="l" defTabSz="914400" rtl="0" eaLnBrk="1" fontAlgn="auto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1">
            <a:alphaModFix amt="1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69883" y="1189673"/>
            <a:ext cx="10852237" cy="33147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3"/>
            </p:custDataLst>
          </p:nvPr>
        </p:nvSpPr>
        <p:spPr>
          <a:xfrm>
            <a:off x="669883" y="1571631"/>
            <a:ext cx="10852237" cy="404168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4"/>
            </p:custDataLst>
          </p:nvPr>
        </p:nvSpPr>
        <p:spPr>
          <a:xfrm>
            <a:off x="879743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5"/>
            </p:custDataLst>
          </p:nvPr>
        </p:nvSpPr>
        <p:spPr>
          <a:xfrm>
            <a:off x="4116000" y="5619625"/>
            <a:ext cx="396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6"/>
            </p:custDataLst>
          </p:nvPr>
        </p:nvSpPr>
        <p:spPr>
          <a:xfrm>
            <a:off x="8610600" y="5619625"/>
            <a:ext cx="2700000" cy="23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7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0" y="2057400"/>
            <a:ext cx="6185001" cy="1051560"/>
          </a:xfrm>
        </p:spPr>
        <p:txBody>
          <a:bodyPr wrap="none"/>
          <a:lstStyle/>
          <a:p>
            <a:r>
              <a:rPr sz="54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Web编程</a:t>
            </a:r>
            <a:endParaRPr sz="54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3200400"/>
            <a:ext cx="6246266" cy="1463040"/>
          </a:xfrm>
        </p:spPr>
        <p:txBody>
          <a:bodyPr wrap="none"/>
          <a:lstStyle/>
          <a:p>
            <a:r>
              <a:rPr sz="2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第9周 · 实验课</a:t>
            </a:r>
            <a:endParaRPr sz="2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TypeScript 重构 + 单测实战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sz="20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生成测试的审查</a:t>
            </a:r>
            <a:endParaRPr sz="20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蔡树彬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 wrap="none"/>
          <a:lstStyle/>
          <a:p>
            <a:pPr algn="r"/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今天实验课：做什么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640080" y="1298448"/>
            <a:ext cx="10881360" cy="9601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3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给一个能跑的 todo.js 加上类型约束，再用测试证明它是对的</a:t>
            </a:r>
            <a:endParaRPr sz="23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395728"/>
          <a:ext cx="10881359" cy="3200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31719"/>
                <a:gridCol w="5440680"/>
                <a:gridCol w="3108960"/>
              </a:tblGrid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环节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任务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核心动作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① 环境扫盲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认识 Node.js / npm，跑通测试环境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npm install / run test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② 任务 1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TS 重构：加类型约束、处理脏数据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代码改造 + 编译检查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③ 任务 2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单测实战：手写覆盖正常与边界的用例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编写 test / expect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④ 任务 3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AI 审查：结构化 Prompt 生成 + 审查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写 Prompt / 审附件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⑤ 提交与收尾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提交</a:t>
                      </a:r>
                      <a:r>
                        <a:rPr lang="zh-CN"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协作日志</a:t>
                      </a:r>
                      <a:endParaRPr lang="zh-CN"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验收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76072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类型检查通过不等于逻辑正确，测试通过不等于测试充分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环节①：Node.js / npm / Vitest 各管什么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3611880" cy="178308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</a:t>
            </a:r>
            <a:endParaRPr sz="22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 JS 脱离浏览器运行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跑测试、跑构建都靠它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315968" y="1298448"/>
            <a:ext cx="3611880" cy="178308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npm</a:t>
            </a:r>
            <a:endParaRPr sz="22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装依赖 + 跑脚本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npm install / npm run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129016" y="1298448"/>
            <a:ext cx="3611880" cy="178308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Vitest</a:t>
            </a:r>
            <a:endParaRPr sz="22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测试框架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 test 与 expect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3273552"/>
            <a:ext cx="6949440" cy="21031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node -v        # 有版本号 → Node 可用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-v         # 有版本号 → npm 可用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install    # 装依赖，生成 node_modules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npm run test   # 跑测试，看到 Test Files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26679" y="3310128"/>
            <a:ext cx="4023360" cy="3364991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看到什么算跑通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node / npm 都有版本号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node_modules 出现在目录里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Test Files … passed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650992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四条命令都有输出，才算环境可用；环境没通之前，不要写业务代码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环节①：把测试环境跑通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417320"/>
            <a:ext cx="5532120" cy="34015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"name": "todo-ts",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"type": "module",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"scripts":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"test": "vitest run"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"devDependencies":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"vitest": "^2.0.0",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"typescript": "^5.5.0"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4632" y="1014983"/>
            <a:ext cx="2011680" cy="347472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package.json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355080" y="1417320"/>
            <a:ext cx="5394960" cy="3401568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 npm install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added 45 packages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$ npm run test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✓ todo.test.ts (3 tests) 12ms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Test Files  1 passed (1)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Tests  3 passed (3)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36792" y="1014983"/>
            <a:ext cx="2286000" cy="347472"/>
          </a:xfrm>
          <a:prstGeom prst="roundRect">
            <a:avLst>
              <a:gd name="adj" fmla="val 3000"/>
            </a:avLst>
          </a:prstGeom>
          <a:solidFill>
            <a:srgbClr val="3A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终端预期输出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010912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scripts.test 写 vitest run：跑一次就退出；写成 vitest 会进入监听模式，终端不会自己停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760720"/>
            <a:ext cx="11247120" cy="603504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环境跑不通时，先解决环境 —— 不要跳过它去写业务代码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1（必做）：TS 重构五件事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4712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新建 tsconfig.json：strict: true + noEmit: true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093976"/>
            <a:ext cx="1124712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todo.js 改名为 todo.ts：先让编译器接管这份代码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862072"/>
            <a:ext cx="1124712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定义 interface Todo：把数据结构写清楚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3630168"/>
            <a:ext cx="1124712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处理脏数据：dataset.id 用 Number() 转换 + isSafeInteger 校验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4398264"/>
            <a:ext cx="11247120" cy="6583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守住三条红线：不用 any、不用非空断言 !、不用 as 硬转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34924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这一轮的目标不是「能跑」，而是「编译器能看懂你的数据结构」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1：先配编译器，再写接口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484632" y="1014983"/>
            <a:ext cx="2194560" cy="347472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tsconfig.json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5394960" cy="32461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"compilerOptions":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"target": "ES2020",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"module": "ESNext",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"strict": true,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"noEmit": true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},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"include": ["src", "*.ts"]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153912" y="1014983"/>
            <a:ext cx="1828800" cy="347472"/>
          </a:xfrm>
          <a:prstGeom prst="roundRect">
            <a:avLst>
              <a:gd name="adj" fmla="val 3000"/>
            </a:avLst>
          </a:prstGeom>
          <a:solidFill>
            <a:srgbClr val="3A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todo.ts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172200" y="1417320"/>
            <a:ext cx="5577840" cy="32461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export interface Todo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id: number;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text: string;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completed: boolean;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export function addTodo(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todos: Todo[], text: string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): void { /* … */ 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4828032"/>
            <a:ext cx="5486400" cy="11887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strict: true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null / undefined 必须显式处理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不写类型的地方直接报错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4828032"/>
            <a:ext cx="5486400" cy="1188720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noEmit: true</a:t>
            </a:r>
            <a:endParaRPr sz="20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只做类型检查，不生成 JS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检查通过就够了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6144768"/>
            <a:ext cx="11292840" cy="47548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strict 是「让编译器替你查空值」的开关 —— 关掉它，后面的收窄练习就无从谈起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1：脏数据只有两个入口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481328"/>
            <a:ext cx="7040880" cy="1325880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 w="12700">
            <a:solidFill>
              <a:srgbClr val="B53A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错：as 只是让编译器闭嘴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item.dataset.id as any as number;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todos.find(t =&gt; t.id === id);   // '123abc' 找不到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4632" y="1051560"/>
            <a:ext cx="4754880" cy="347472"/>
          </a:xfrm>
          <a:prstGeom prst="roundRect">
            <a:avLst>
              <a:gd name="adj" fmla="val 3000"/>
            </a:avLst>
          </a:prstGeom>
          <a:solidFill>
            <a:srgbClr val="B53A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 硬转：类型对了，数据还是错的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3310128"/>
            <a:ext cx="7498079" cy="16459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对：先转换，再校验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raw = item.dataset.id;      // string | undefined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id = Number(raw);           // '123' → 123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(!Number.isSafeInteger(id)) return;  // 坏值全部挡住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84632" y="2898648"/>
            <a:ext cx="5120640" cy="347472"/>
          </a:xfrm>
          <a:prstGeom prst="roundRect">
            <a:avLst>
              <a:gd name="adj" fmla="val 3000"/>
            </a:avLst>
          </a:prstGeom>
          <a:solidFill>
            <a:srgbClr val="3A9A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Number() + isSafeInteger：转换后再验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0" y="1463040"/>
            <a:ext cx="3749039" cy="5212079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两个入口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dataset.id 永远是 string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localStorage 解析后不受控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三种坏值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'123abc' → NaN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'1.5' → 不是整数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'' → 0，会误判为合法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534924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判断标准：能通过 Number.isSafeInteger 的才是 id —— 不要让一个字符串冒充 id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1：三条红线与一条类型坑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98448"/>
          <a:ext cx="11247120" cy="2697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4560"/>
                <a:gridCol w="5577840"/>
                <a:gridCol w="3474720"/>
              </a:tblGrid>
              <a:tr h="5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红线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正确做法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隐式 any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参数不写类型，等于放弃检查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参数与返回值都写类型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非空断言 !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item!.dataset.id 骗过编译器，运行时崩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if (!item) return;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as 硬转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类型对了，数据还是错的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Number() + isSafeInteger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事件对象类型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e.target 是 EventTarget，没有 dataset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 instanceof Element 收窄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4343400"/>
            <a:ext cx="11247120" cy="150876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function onToggle(e: Event): void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(!(e.target instanceof Element)) return;      // 先收窄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id = Number((e.target as HTMLElement).dataset.id);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if (!Number.isSafeInteger(id)) return;           // 再校验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989320"/>
            <a:ext cx="11292840" cy="50292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</a:t>
            </a:r>
            <a:r>
              <a:rPr lang="zh-CN"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</a:t>
            </a: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在同一处反复卡住的是 event.target 的类型 —— 记住 fix 顺序：先收窄、再转换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1：卡住了怎么办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11247120" cy="713232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 报错清不干净时</a:t>
            </a:r>
            <a:endParaRPr sz="21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194560"/>
            <a:ext cx="6766560" cy="27432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允许临时绕过，但必须留下 TODO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@ts-ignore   TODO: 课后修复类型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list.dataset.mode = 'edit';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e2 = e as any;   // TODO: 课后修复类型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不允许：把 any 当成解法，且不留 TODO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data: any = loadAll();   // 视为未完成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0" y="2212848"/>
            <a:ext cx="4434840" cy="446227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三条规则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可以用 @ts-ignore / as any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必须紧跟 TODO: 课后修复类型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立刻保存，进任务 2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这不是「不用修」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只是把它排到测试之后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21208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课后自查：全局搜索 TODO，一个都不留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2：五个用例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98448"/>
          <a:ext cx="11247120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3108960"/>
                <a:gridCol w="5760720"/>
              </a:tblGrid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断言要点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addTodo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正常添加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 +1，且 todos[0].text 等于输入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addTodo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纯空格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长度不变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addTodo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空字符串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长度不变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toggleTodo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正常切换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目标翻转，其他用例不受影响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toggleTodo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不存在的 ID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不崩溃（长度不变）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502920" y="4800600"/>
            <a:ext cx="11247120" cy="731520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这五条</a:t>
            </a:r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尽量</a:t>
            </a: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自己手写</a:t>
            </a:r>
            <a:r>
              <a:rPr lang="zh-CN"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 AI</a:t>
            </a:r>
            <a:endParaRPr sz="2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779008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先自己写出来，才看得懂 AI 写的测试差在哪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2：先写一个能跑的测试文件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7223760" cy="342900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test, expect } from 'vitest';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addTodo, Todo } from './todo';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test('正常添加：文本内容正确',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       // 每个用例内部新建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expect(todos[0].text).toBe('学习TS');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001000" y="1325880"/>
            <a:ext cx="3749039" cy="23469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三件事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显式 import 才可用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数据建在用例内部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断言到具体值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 import 的全局变量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      </a:t>
            </a:r>
            <a:r>
              <a:rPr lang="zh-CN"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慎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498348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这个文件跑</a:t>
            </a:r>
            <a:r>
              <a:rPr lang="zh-CN"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</a:t>
            </a: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了，任务 2 的骨架就有了；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5760720"/>
            <a:ext cx="11247120" cy="566928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先跑通一条，再写第二条 —— 一次写完五条，报错时分不清</a:t>
            </a:r>
            <a:endParaRPr sz="19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2：addTodo 的两条拦截用例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691640"/>
            <a:ext cx="5440680" cy="1783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test('纯空格：拦截',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   ');   // 三个空格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84632" y="1271016"/>
            <a:ext cx="3291840" cy="347472"/>
          </a:xfrm>
          <a:prstGeom prst="roundRect">
            <a:avLst>
              <a:gd name="adj" fmla="val 3000"/>
            </a:avLst>
          </a:prstGeom>
          <a:solidFill>
            <a:srgbClr val="EE82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纯空格：拦截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361188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这条用例在抓什么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空格看起来像有内容，trim 之后才是真的空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断言长度不变，说明确实没有入库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309360" y="1691640"/>
            <a:ext cx="5440680" cy="178308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test('空字符串：拦截',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291072" y="1271016"/>
            <a:ext cx="3566160" cy="347472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tlCol="0" anchor="ctr"/>
          <a:lstStyle/>
          <a:p>
            <a:pPr algn="l"/>
            <a:r>
              <a:rPr sz="1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空字符串：拦截</a:t>
            </a:r>
            <a:endParaRPr sz="1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309360" y="3611880"/>
            <a:ext cx="5440680" cy="12344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为什么不合并成一条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入口不同：一个是 trim 后为空，一个本来就没有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两条都过，才说明拦截不依赖某个分支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57200" y="512064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这两条用例验证的是契约里同一句话：无效输入不能改变数据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897880"/>
            <a:ext cx="11247120" cy="530352"/>
          </a:xfrm>
          <a:prstGeom prst="roundRect">
            <a:avLst>
              <a:gd name="adj" fmla="val 3000"/>
            </a:avLst>
          </a:prstGeom>
          <a:solidFill>
            <a:srgbClr val="ECF7F3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只写 toBe(1) 这种长度断言，能发现「没拦住」；但「拦住了却存成空串」要靠内容断言</a:t>
            </a:r>
            <a:endParaRPr sz="1800" b="1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2：toggleTodo 的两条用例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6949440" cy="3977639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test('切换完成状态',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{ id: 1, text: '学习TS', completed: false },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toggleTodo(todos, 1);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expect(todos[0].completed).toBe(true);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test('不存在的 ID 不崩溃',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toggleTodo(todos, 999);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726679" y="1325880"/>
            <a:ext cx="4023360" cy="5349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两条用例的差别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前者验证状态真的翻转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后者验证找不到时不崩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不存在的 ID 属于契约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先看契约：安静返回还是抛错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再写断言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358384"/>
            <a:ext cx="11292840" cy="530352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边界用例的预期值来自契约，不来自你的实现 —— 实现错了，测试要能变红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5998464"/>
            <a:ext cx="11247120" cy="475488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跑一遍 npm run test：五条全绿，任务 2 完成；有红就先修红，不要加新用例</a:t>
            </a:r>
            <a:endParaRPr sz="18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2：两种「假通过」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5440680" cy="237744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弱断言：改错了也不变红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expect(todos[0]).toBeDefined();</a:t>
            </a:r>
            <a:endParaRPr sz="1800" b="0">
              <a:solidFill>
                <a:srgbClr val="2B2B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实现把文本存成空串，这条断言照样通过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改：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3A9A74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expect(todos[0].text).toBe('学习TS');</a:t>
            </a:r>
            <a:endParaRPr sz="1800" b="0">
              <a:solidFill>
                <a:srgbClr val="3A9A74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1298448"/>
            <a:ext cx="5440680" cy="23774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64592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测试污染：第二条莫名失败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B2B2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const todos: Todo[] = [];   // 顶层声明</a:t>
            </a:r>
            <a:endParaRPr sz="1800" b="0">
              <a:solidFill>
                <a:srgbClr val="2B2B2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上一个用例留下的数据，被下一个用例读到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改：</a:t>
            </a:r>
            <a:r>
              <a:rPr sz="1800" b="0">
                <a:solidFill>
                  <a:srgbClr val="3A9A7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test 内部重新声明</a:t>
            </a:r>
            <a:endParaRPr sz="1800" b="0">
              <a:solidFill>
                <a:srgbClr val="3A9A7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3858768"/>
            <a:ext cx="1124712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Ins="20116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自检两句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把实现改坏一处，测试会不会红？不会 → 断言太弱。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单独运行任意一条用例，结果是否和全跑一致？不一致 → 数据被共享了。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544068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测试的价值不在「绿」，而在「改坏了会红」—— 这一句能筛掉一大半无效测试</a:t>
            </a:r>
            <a:endParaRPr sz="20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3：AI 生成与审查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112471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 AI 工具，粘贴结构化 Prompt，让它生成测试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2148840"/>
            <a:ext cx="112471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 </a:t>
            </a:r>
            <a:r>
              <a:rPr lang="zh-CN"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查看生成的测试代码</a:t>
            </a:r>
            <a:endParaRPr lang="zh-CN"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971800"/>
            <a:ext cx="112471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审查并回答两道题：有效性审查、边界审查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3794760"/>
            <a:ext cx="11247120" cy="69494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Ins="109728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 </a:t>
            </a:r>
            <a:r>
              <a:rPr sz="20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Prompt（或附件标识）与回答写进 AI 日志</a:t>
            </a:r>
            <a:endParaRPr sz="20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4937760"/>
            <a:ext cx="11246485" cy="80391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487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注意审查，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 里写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、不写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契约 + 维度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，对生成测试代码的影响。</a:t>
            </a:r>
            <a:endParaRPr lang="zh-CN"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3 · 第一步：把契约和维度写进 Prompt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11247120" cy="3977639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我有一段 TypeScript 代码 addTodo，业务契约如下：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1. 输入合法文本，添加任务。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2. 输入纯空格或空字符串，拒绝添加。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3. 输入超长文本，根据业务需求决定是否拦截。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请使用 Vitest 编写测试。要求按以下维度覆盖：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维度1（空值）：传入 null。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维度2（格式）：传入纯空格、空字符串。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维度6（重复）：连续添加相同文本。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 维度2（格式拓展）：传入超长文本。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断言要求：必须验证具体的业务结果，不能只写 toBeDefined。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请在每个 test 上方用注释标明对应的测试维度。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57200" y="5413248"/>
            <a:ext cx="11292840" cy="566928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Prompt 里没有的维度，AI 不</a:t>
            </a:r>
            <a:r>
              <a:rPr lang="zh-CN"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一定</a:t>
            </a: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会替你想到 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3 · 审查</a:t>
            </a:r>
            <a:r>
              <a:rPr lang="en-US" altLang="zh-CN"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个示例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6858000" cy="420624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test, expect } from 'vitest';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import { addTodo } from './todo';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test('添加一条任务',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expect(todos[0]).toBeDefined();   // 弱断言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test('拒绝空字符串',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'');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expect(todos.length).toBe(1);     // 期望值写反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35240" y="1325880"/>
            <a:ext cx="4114800" cy="5349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这段代码能跑绿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但它证明不了任何事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问题一：断言太弱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文本存空了也照样通过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问题二：期望值写反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把「没拦住」当成预期结果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问题三：维度缺失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null、超长文本一条都没有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57200" y="5623560"/>
            <a:ext cx="11292840" cy="5486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没有 AI 也一样能完成这一步：审查对象换成附件，产出物完全相同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 3 · 第二步：回答两道题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502920" y="1298448"/>
            <a:ext cx="5440680" cy="1417320"/>
          </a:xfrm>
          <a:prstGeom prst="roundRect">
            <a:avLst>
              <a:gd name="adj" fmla="val 3000"/>
            </a:avLst>
          </a:prstGeom>
          <a:solidFill>
            <a:srgbClr val="FCECEE"/>
          </a:solidFill>
          <a:ln w="12700">
            <a:solidFill>
              <a:srgbClr val="E54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有效性审查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哪一句是「</a:t>
            </a:r>
            <a:r>
              <a:rPr lang="zh-CN"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无效</a:t>
            </a: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断言」？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标准：把实现改错，它也不会变红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1298448"/>
            <a:ext cx="5440680" cy="141732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54864" rIns="146304" bIns="54864" rtlCol="0" anchor="ctr"/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边界审查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 9 个维度，漏了哪个当前业务需要的？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要求：手写一行代码把它补上</a:t>
            </a:r>
            <a:endParaRPr sz="18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2880360"/>
            <a:ext cx="7040880" cy="2788920"/>
          </a:xfrm>
          <a:prstGeom prst="roundRect">
            <a:avLst>
              <a:gd name="adj" fmla="val 3000"/>
            </a:avLst>
          </a:prstGeom>
          <a:solidFill>
            <a:srgbClr val="53C495"/>
          </a:solidFill>
          <a:ln w="12700">
            <a:solidFill>
              <a:srgbClr val="3A9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46304" tIns="91440" rIns="146304" bIns="9144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① 换掉弱断言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expect(todos[0].text).toBe('学习TS');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// ② 补上遗漏的维度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test('维度1：null 应被拦截', () =&gt; {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const todos: Todo[] = [];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addTodo(todos, null as any);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expect(todos.length).toBe(0);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800" b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});</a:t>
            </a:r>
            <a:endParaRPr sz="1800" b="0">
              <a:solidFill>
                <a:srgbClr val="FFFFF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18120" y="2880360"/>
            <a:ext cx="3931920" cy="3794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写进 AI 日志的格式</a:t>
            </a:r>
            <a:endParaRPr sz="2000" b="1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题目 + 你的答案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标出原代码的行或函数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给出修补后的代码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  </a:t>
            </a:r>
            <a:r>
              <a:rPr sz="2000" b="1">
                <a:solidFill>
                  <a:srgbClr val="E54C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只贴代码不算完成</a:t>
            </a:r>
            <a:endParaRPr sz="2000" b="1">
              <a:solidFill>
                <a:srgbClr val="E54C5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  </a:t>
            </a:r>
            <a:r>
              <a:rPr sz="1800" b="0">
                <a:solidFill>
                  <a:srgbClr val="6B6B6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两道题都要有文字回答</a:t>
            </a:r>
            <a:endParaRPr sz="1800" b="0">
              <a:solidFill>
                <a:srgbClr val="6B6B6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57200" y="5806440"/>
            <a:ext cx="11292840" cy="5486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19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审查报告是本任务的交付物 </a:t>
            </a:r>
            <a:endParaRPr sz="19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常见错误与对策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2920" y="1298448"/>
          <a:ext cx="11247119" cy="3429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00400"/>
                <a:gridCol w="3749039"/>
                <a:gridCol w="429768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现象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原因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对策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e.target 上没有 dataset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事件对象是 EventTarget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 instanceof Element 收窄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 as number 转 id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硬转不校验，数据仍是脏的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Number() + isSafeInteger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测试全绿但功能是坏的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断言太弱（toBeDefined）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断言到具体文本内容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第二条用例莫名失败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todos 写在文件顶层被共享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每个 test 内部新建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@ts-ignore 忘了删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临时绕过变成永久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搜 TODO 逐个清掉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5074920"/>
            <a:ext cx="11292840" cy="603504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/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▲  前三条最常见 —— 出现任何一条，先回到对应任务页对照着改</a:t>
            </a:r>
            <a:endParaRPr sz="2000" b="1">
              <a:solidFill>
                <a:srgbClr val="EE822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5870448"/>
            <a:ext cx="11247120" cy="548640"/>
          </a:xfrm>
          <a:prstGeom prst="roundRect">
            <a:avLst>
              <a:gd name="adj" fmla="val 3000"/>
            </a:avLst>
          </a:prstGeom>
          <a:solidFill>
            <a:srgbClr val="EEF3F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>
                <a:solidFill>
                  <a:srgbClr val="2F559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报错不可怕，怕的是你不知道它在说哪一层：编译期、运行期、断言期</a:t>
            </a:r>
            <a:endParaRPr sz="1900" b="1">
              <a:solidFill>
                <a:srgbClr val="2F559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273" y="360273"/>
            <a:ext cx="11519611" cy="719632"/>
          </a:xfrm>
        </p:spPr>
        <p:txBody>
          <a:bodyPr wrap="none" lIns="45720" anchor="ctr"/>
          <a:lstStyle/>
          <a:p>
            <a:pPr algn="l"/>
            <a:r>
              <a:rPr sz="2800" b="1">
                <a:solidFill>
                  <a:srgbClr val="4874C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自检</a:t>
            </a:r>
            <a:endParaRPr sz="2800" b="1">
              <a:solidFill>
                <a:srgbClr val="4874C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385951"/>
          <a:ext cx="11247119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960"/>
                <a:gridCol w="9144000"/>
                <a:gridCol w="1280159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#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自检项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确认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4874C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所有变量都有明确类型（无隐式 any）？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读取 dataset.id 时，用 Number() 转换并校验？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手写单测覆盖「正常」和「边界」，且断言具体？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审查报告指出了弱断言，并补齐了遗漏维度？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800" b="0">
                          <a:solidFill>
                            <a:srgbClr val="2B2B2B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□</a:t>
                      </a:r>
                      <a:endParaRPr sz="1800" b="0">
                        <a:solidFill>
                          <a:srgbClr val="2B2B2B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4008" marR="45720" marT="27432" marB="27432" anchor="ctr">
                    <a:solidFill>
                      <a:srgbClr val="EEF3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11247120" cy="1783080"/>
          </a:xfrm>
          <a:prstGeom prst="roundRect">
            <a:avLst>
              <a:gd name="adj" fmla="val 3000"/>
            </a:avLst>
          </a:prstGeom>
          <a:solidFill>
            <a:srgbClr val="4874CB"/>
          </a:solidFill>
          <a:ln w="12700">
            <a:solidFill>
              <a:srgbClr val="2F55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类型让代码能被看懂，测试让改动能被相信。</a:t>
            </a:r>
            <a:endParaRPr sz="3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可以写测试，但「测够了没有」只能由你判断。</a:t>
            </a:r>
            <a:endParaRPr sz="2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4773168"/>
            <a:ext cx="11247120" cy="1005840"/>
          </a:xfrm>
          <a:prstGeom prst="roundRect">
            <a:avLst>
              <a:gd name="adj" fmla="val 3000"/>
            </a:avLst>
          </a:prstGeom>
          <a:solidFill>
            <a:srgbClr val="FDF1E6"/>
          </a:solidFill>
          <a:ln w="12700">
            <a:solidFill>
              <a:srgbClr val="EE82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tlCol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>
                <a:solidFill>
                  <a:srgbClr val="EE822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课后</a:t>
            </a:r>
            <a:r>
              <a:rPr sz="1900" b="0">
                <a:solidFill>
                  <a:srgbClr val="2B2B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清掉所有 TODO 与 @ts-ignore；补上任务 2 没写完的边界用例。</a:t>
            </a:r>
            <a:endParaRPr sz="1900" b="0">
              <a:solidFill>
                <a:srgbClr val="2B2B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1"/>
  <p:tag name="KSO_WM_UNIT_ID" val="_1*y*1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2"/>
  <p:tag name="KSO_WM_UNIT_ID" val="_1*y*2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3"/>
  <p:tag name="KSO_WM_UNIT_ID" val="_1*y*3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TYPE" val="y"/>
  <p:tag name="KSO_WM_UNIT_INDEX" val="4"/>
  <p:tag name="KSO_WM_UNIT_ID" val="_1*y*4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2*i*1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2*i*2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2*i*3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2*i*4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3*i*2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3*i*3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3*i*4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2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4*i*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4*i*4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4*i*2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4*i*3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2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5*i*1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5*i*2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5*i*3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5*i*4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6*i*4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2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7*i*4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2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8*i*2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7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18*i*7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8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SHOW_EDIT_AREA_INDICATION" val="0"/>
  <p:tag name="KSO_WM_TEMPLATE_THUMBS_INDEX" val="1、4、5、6、7、8、9、11、13"/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2548"/>
  <p:tag name="KSO_WM_TEMPLATE_MASTER_TYPE" val="1"/>
</p:tagLst>
</file>

<file path=ppt/tags/tag192.xml><?xml version="1.0" encoding="utf-8"?>
<p:tagLst xmlns:p="http://schemas.openxmlformats.org/presentationml/2006/main">
  <p:tag name="commondata" val="eyJoZGlkIjoiMmJjNjQ4Nzg3M2YyZjZkNGVhYWUxNjZmMjIyOWVhMG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2F2F2"/>
      </a:dk2>
      <a:lt2>
        <a:srgbClr val="FFFFFF"/>
      </a:lt2>
      <a:accent1>
        <a:srgbClr val="5D53C4"/>
      </a:accent1>
      <a:accent2>
        <a:srgbClr val="815EC5"/>
      </a:accent2>
      <a:accent3>
        <a:srgbClr val="4B58C3"/>
      </a:accent3>
      <a:accent4>
        <a:srgbClr val="5697A8"/>
      </a:accent4>
      <a:accent5>
        <a:srgbClr val="54AD9D"/>
      </a:accent5>
      <a:accent6>
        <a:srgbClr val="53C495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6665</Words>
  <Application>WPS 演示</Application>
  <PresentationFormat>宽屏</PresentationFormat>
  <Paragraphs>553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宋体</vt:lpstr>
      <vt:lpstr>Wingdings</vt:lpstr>
      <vt:lpstr>微软雅黑</vt:lpstr>
      <vt:lpstr>汉仪旗黑-85S</vt:lpstr>
      <vt:lpstr>黑体</vt:lpstr>
      <vt:lpstr>隶书</vt:lpstr>
      <vt:lpstr>Viner Hand ITC</vt:lpstr>
      <vt:lpstr>Consolas</vt:lpstr>
      <vt:lpstr>Arial Unicode MS</vt:lpstr>
      <vt:lpstr>Calibri</vt:lpstr>
      <vt:lpstr>WPS</vt:lpstr>
      <vt:lpstr>1_Office 主题​​</vt:lpstr>
      <vt:lpstr>Web编程</vt:lpstr>
      <vt:lpstr>今天实验课：做什么</vt:lpstr>
      <vt:lpstr>环节①：Node.js / npm / Vitest 各管什么</vt:lpstr>
      <vt:lpstr>环节①：把测试环境跑通</vt:lpstr>
      <vt:lpstr>任务 1（必做）：TS 重构五件事</vt:lpstr>
      <vt:lpstr>任务 1：先配编译器，再写接口</vt:lpstr>
      <vt:lpstr>任务 1：脏数据只有两个入口</vt:lpstr>
      <vt:lpstr>任务 1：三条红线与一条类型坑</vt:lpstr>
      <vt:lpstr>任务 1：卡住了怎么办</vt:lpstr>
      <vt:lpstr>任务 2（必做）：五个必写用例</vt:lpstr>
      <vt:lpstr>任务 2：先写一个能跑的测试文件</vt:lpstr>
      <vt:lpstr>任务 2：addTodo 的两条拦截用例</vt:lpstr>
      <vt:lpstr>任务 2：toggleTodo 的两条用例</vt:lpstr>
      <vt:lpstr>任务 2：两种「假通过」</vt:lpstr>
      <vt:lpstr>任务 3（必做）：AI 生成与审查</vt:lpstr>
      <vt:lpstr>任务 3 · 第一步：把契约和维度写进 Prompt</vt:lpstr>
      <vt:lpstr>任务 3 · 断网兜底：直接审查 bad-tests.ts</vt:lpstr>
      <vt:lpstr>任务 3 · 第二步：回答两道题</vt:lpstr>
      <vt:lpstr>常见错误与对策</vt:lpstr>
      <vt:lpstr>提交物与自检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Hawk Cai</dc:creator>
  <cp:lastModifiedBy>蔡树彬</cp:lastModifiedBy>
  <cp:revision>159</cp:revision>
  <dcterms:created xsi:type="dcterms:W3CDTF">2023-08-09T12:44:00Z</dcterms:created>
  <dcterms:modified xsi:type="dcterms:W3CDTF">2026-10-27T04:43:38Z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2052-12.1.0.29161</vt:lpwstr>
  </property>
</Properties>
</file>