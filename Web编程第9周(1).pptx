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28"/>
  </p:notesMasterIdLst>
  <p:handoutMasterIdLst>
    <p:handoutMasterId r:id="rId29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80" r:id="rId21"/>
    <p:sldId id="273" r:id="rId22"/>
    <p:sldId id="279" r:id="rId23"/>
    <p:sldId id="275" r:id="rId24"/>
    <p:sldId id="282" r:id="rId25"/>
    <p:sldId id="276" r:id="rId26"/>
    <p:sldId id="277" r:id="rId27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Cai" initials="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4" Type="http://schemas.openxmlformats.org/officeDocument/2006/relationships/tags" Target="tags/tag198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2.jpe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486847" y="2130501"/>
            <a:ext cx="6185195" cy="898964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486847" y="3406073"/>
            <a:ext cx="6246303" cy="474313"/>
          </a:xfrm>
        </p:spPr>
        <p:txBody>
          <a:bodyPr lIns="90000" tIns="0" rIns="90000" bIns="468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1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grpSp>
        <p:nvGrpSpPr>
          <p:cNvPr id="4" name="组合 3"/>
          <p:cNvGrpSpPr/>
          <p:nvPr userDrawn="1">
            <p:custDataLst>
              <p:tags r:id="rId7"/>
            </p:custDataLst>
          </p:nvPr>
        </p:nvGrpSpPr>
        <p:grpSpPr>
          <a:xfrm>
            <a:off x="-19745" y="0"/>
            <a:ext cx="11817587" cy="6892260"/>
            <a:chOff x="-19745" y="0"/>
            <a:chExt cx="11817586" cy="6892260"/>
          </a:xfrm>
        </p:grpSpPr>
        <p:sp>
          <p:nvSpPr>
            <p:cNvPr id="7" name="任意多边形: 形状 6"/>
            <p:cNvSpPr/>
            <p:nvPr userDrawn="1">
              <p:custDataLst>
                <p:tags r:id="rId8"/>
              </p:custDataLst>
            </p:nvPr>
          </p:nvSpPr>
          <p:spPr>
            <a:xfrm rot="10800000">
              <a:off x="-19745" y="0"/>
              <a:ext cx="2427300" cy="2764457"/>
            </a:xfrm>
            <a:custGeom>
              <a:avLst/>
              <a:gdLst>
                <a:gd name="connsiteX0" fmla="*/ 2427300 w 2427300"/>
                <a:gd name="connsiteY0" fmla="*/ 2764457 h 2764457"/>
                <a:gd name="connsiteX1" fmla="*/ 0 w 2427300"/>
                <a:gd name="connsiteY1" fmla="*/ 2764457 h 2764457"/>
                <a:gd name="connsiteX2" fmla="*/ 1742483 w 2427300"/>
                <a:gd name="connsiteY2" fmla="*/ 0 h 2764457"/>
                <a:gd name="connsiteX3" fmla="*/ 2427300 w 2427300"/>
                <a:gd name="connsiteY3" fmla="*/ 1086466 h 2764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7300" h="2764457">
                  <a:moveTo>
                    <a:pt x="2427300" y="2764457"/>
                  </a:moveTo>
                  <a:lnTo>
                    <a:pt x="0" y="2764457"/>
                  </a:lnTo>
                  <a:lnTo>
                    <a:pt x="1742483" y="0"/>
                  </a:lnTo>
                  <a:lnTo>
                    <a:pt x="2427300" y="108646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9"/>
              </p:custDataLst>
            </p:nvPr>
          </p:nvSpPr>
          <p:spPr>
            <a:xfrm>
              <a:off x="-19744" y="3106180"/>
              <a:ext cx="2880823" cy="3786080"/>
            </a:xfrm>
            <a:custGeom>
              <a:avLst/>
              <a:gdLst>
                <a:gd name="connsiteX0" fmla="*/ 684897 w 2880823"/>
                <a:gd name="connsiteY0" fmla="*/ 0 h 3786080"/>
                <a:gd name="connsiteX1" fmla="*/ 2880823 w 2880823"/>
                <a:gd name="connsiteY1" fmla="*/ 3786080 h 3786080"/>
                <a:gd name="connsiteX2" fmla="*/ 0 w 2880823"/>
                <a:gd name="connsiteY2" fmla="*/ 3786080 h 3786080"/>
                <a:gd name="connsiteX3" fmla="*/ 0 w 2880823"/>
                <a:gd name="connsiteY3" fmla="*/ 1180857 h 3786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0823" h="3786080">
                  <a:moveTo>
                    <a:pt x="684897" y="0"/>
                  </a:moveTo>
                  <a:lnTo>
                    <a:pt x="2880823" y="3786080"/>
                  </a:lnTo>
                  <a:lnTo>
                    <a:pt x="0" y="3786080"/>
                  </a:lnTo>
                  <a:lnTo>
                    <a:pt x="0" y="11808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任意多边形: 形状 8"/>
            <p:cNvSpPr/>
            <p:nvPr userDrawn="1">
              <p:custDataLst>
                <p:tags r:id="rId10"/>
              </p:custDataLst>
            </p:nvPr>
          </p:nvSpPr>
          <p:spPr>
            <a:xfrm rot="5400000">
              <a:off x="-712814" y="2685879"/>
              <a:ext cx="1978851" cy="592710"/>
            </a:xfrm>
            <a:custGeom>
              <a:avLst/>
              <a:gdLst>
                <a:gd name="connsiteX0" fmla="*/ 0 w 1978851"/>
                <a:gd name="connsiteY0" fmla="*/ 592710 h 592710"/>
                <a:gd name="connsiteX1" fmla="*/ 989425 w 1978851"/>
                <a:gd name="connsiteY1" fmla="*/ 0 h 592710"/>
                <a:gd name="connsiteX2" fmla="*/ 1978851 w 1978851"/>
                <a:gd name="connsiteY2" fmla="*/ 592710 h 592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78851" h="592710">
                  <a:moveTo>
                    <a:pt x="0" y="592710"/>
                  </a:moveTo>
                  <a:lnTo>
                    <a:pt x="989425" y="0"/>
                  </a:lnTo>
                  <a:lnTo>
                    <a:pt x="1978851" y="5927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11"/>
            <p:cNvSpPr/>
            <p:nvPr userDrawn="1">
              <p:custDataLst>
                <p:tags r:id="rId11"/>
              </p:custDataLst>
            </p:nvPr>
          </p:nvSpPr>
          <p:spPr>
            <a:xfrm>
              <a:off x="2861079" y="5298431"/>
              <a:ext cx="1848842" cy="159382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13"/>
            <p:cNvSpPr/>
            <p:nvPr userDrawn="1">
              <p:custDataLst>
                <p:tags r:id="rId12"/>
              </p:custDataLst>
            </p:nvPr>
          </p:nvSpPr>
          <p:spPr>
            <a:xfrm rot="3600000">
              <a:off x="1132840" y="1963551"/>
              <a:ext cx="3794133" cy="3270803"/>
            </a:xfrm>
            <a:prstGeom prst="triangle">
              <a:avLst/>
            </a:prstGeom>
            <a:blipFill dpi="0" rotWithShape="0">
              <a:blip r:embed="rId13"/>
              <a:srcRect/>
              <a:stretch>
                <a:fillRect t="1000" b="-2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12" name="组合 11"/>
            <p:cNvGrpSpPr/>
            <p:nvPr userDrawn="1">
              <p:custDataLst>
                <p:tags r:id="rId14"/>
              </p:custDataLst>
            </p:nvPr>
          </p:nvGrpSpPr>
          <p:grpSpPr>
            <a:xfrm>
              <a:off x="11668459" y="549424"/>
              <a:ext cx="129382" cy="473109"/>
              <a:chOff x="11537206" y="483307"/>
              <a:chExt cx="201523" cy="736906"/>
            </a:xfrm>
            <a:solidFill>
              <a:schemeClr val="accent1"/>
            </a:solidFill>
          </p:grpSpPr>
          <p:sp>
            <p:nvSpPr>
              <p:cNvPr id="13" name="椭圆 12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537206" y="483307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4" name="椭圆 13"/>
              <p:cNvSpPr/>
              <p:nvPr>
                <p:custDataLst>
                  <p:tags r:id="rId16"/>
                </p:custDataLst>
              </p:nvPr>
            </p:nvSpPr>
            <p:spPr>
              <a:xfrm>
                <a:off x="11537207" y="744908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5" name="椭圆 14"/>
              <p:cNvSpPr/>
              <p:nvPr>
                <p:custDataLst>
                  <p:tags r:id="rId17"/>
                </p:custDataLst>
              </p:nvPr>
            </p:nvSpPr>
            <p:spPr>
              <a:xfrm>
                <a:off x="11542786" y="1024270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19" name="圆角矩形 20"/>
            <p:cNvSpPr/>
            <p:nvPr userDrawn="1">
              <p:custDataLst>
                <p:tags r:id="rId18"/>
              </p:custDataLst>
            </p:nvPr>
          </p:nvSpPr>
          <p:spPr>
            <a:xfrm>
              <a:off x="5633482" y="3158748"/>
              <a:ext cx="1163781" cy="7482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三角形 12"/>
            <p:cNvSpPr/>
            <p:nvPr userDrawn="1">
              <p:custDataLst>
                <p:tags r:id="rId19"/>
              </p:custDataLst>
            </p:nvPr>
          </p:nvSpPr>
          <p:spPr>
            <a:xfrm rot="3600000">
              <a:off x="1574330" y="1748429"/>
              <a:ext cx="3794133" cy="327080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9876791" y="5137309"/>
            <a:ext cx="1864995" cy="404813"/>
          </a:xfrm>
        </p:spPr>
        <p:txBody>
          <a:bodyPr lIns="90000" tIns="46800" rIns="90000" bIns="0" anchor="b" anchorCtr="0"/>
          <a:lstStyle>
            <a:lvl1pPr marL="0" indent="0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9876791" y="5717064"/>
            <a:ext cx="1864995" cy="404813"/>
          </a:xfrm>
        </p:spPr>
        <p:txBody>
          <a:bodyPr lIns="90000" tIns="0" rIns="90000" bIns="46800" anchor="t" anchorCtr="0"/>
          <a:lstStyle>
            <a:lvl1pPr marL="0" indent="0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60000" y="360000"/>
            <a:ext cx="11520000" cy="720000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360000" y="1260000"/>
            <a:ext cx="11520000" cy="504000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360000" y="6480000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480000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280000" y="6480000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528157" y="0"/>
            <a:ext cx="11663843" cy="6892260"/>
            <a:chOff x="528157" y="0"/>
            <a:chExt cx="11663843" cy="6892260"/>
          </a:xfrm>
        </p:grpSpPr>
        <p:sp>
          <p:nvSpPr>
            <p:cNvPr id="7" name="三角形 6"/>
            <p:cNvSpPr/>
            <p:nvPr userDrawn="1">
              <p:custDataLst>
                <p:tags r:id="rId3"/>
              </p:custDataLst>
            </p:nvPr>
          </p:nvSpPr>
          <p:spPr>
            <a:xfrm rot="10800000">
              <a:off x="528157" y="0"/>
              <a:ext cx="2080887" cy="1650670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三角形 7"/>
            <p:cNvSpPr/>
            <p:nvPr userDrawn="1">
              <p:custDataLst>
                <p:tags r:id="rId4"/>
              </p:custDataLst>
            </p:nvPr>
          </p:nvSpPr>
          <p:spPr>
            <a:xfrm>
              <a:off x="9227714" y="5093898"/>
              <a:ext cx="2086099" cy="179836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8"/>
            <p:cNvSpPr/>
            <p:nvPr userDrawn="1">
              <p:custDataLst>
                <p:tags r:id="rId5"/>
              </p:custDataLst>
            </p:nvPr>
          </p:nvSpPr>
          <p:spPr>
            <a:xfrm>
              <a:off x="11313813" y="6135202"/>
              <a:ext cx="878187" cy="757058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9"/>
            <p:cNvSpPr/>
            <p:nvPr userDrawn="1">
              <p:custDataLst>
                <p:tags r:id="rId6"/>
              </p:custDataLst>
            </p:nvPr>
          </p:nvSpPr>
          <p:spPr>
            <a:xfrm>
              <a:off x="2133732" y="1992725"/>
              <a:ext cx="2699999" cy="232758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4992979" y="3109836"/>
            <a:ext cx="4846987" cy="584007"/>
          </a:xfrm>
        </p:spPr>
        <p:txBody>
          <a:bodyPr lIns="90000" tIns="46800" rIns="90000" bIns="0" anchor="b" anchorCtr="0">
            <a:normAutofit/>
          </a:bodyPr>
          <a:lstStyle>
            <a:lvl1pPr>
              <a:defRPr sz="27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4992979" y="3949176"/>
            <a:ext cx="4846987" cy="584007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7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238877" y="1626121"/>
            <a:ext cx="5283243" cy="404168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1" name="任意多边形: 形状 10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3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9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0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1" y="498476"/>
            <a:ext cx="10852237" cy="331473"/>
          </a:xfrm>
        </p:spPr>
        <p:txBody>
          <a:bodyPr lIns="90000" tIns="46800" rIns="90000" bIns="46800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7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8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6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7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0638975" y="5416759"/>
            <a:ext cx="1553024" cy="1432837"/>
            <a:chOff x="10898426" y="5656127"/>
            <a:chExt cx="1293583" cy="1193474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26" y="6156793"/>
              <a:ext cx="678847" cy="69280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20" y="5656127"/>
              <a:ext cx="771189" cy="1193474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3028067" y="0"/>
            <a:ext cx="6276189" cy="6858000"/>
            <a:chOff x="3028067" y="0"/>
            <a:chExt cx="6276189" cy="6858000"/>
          </a:xfrm>
        </p:grpSpPr>
        <p:sp>
          <p:nvSpPr>
            <p:cNvPr id="6" name="三角形 3"/>
            <p:cNvSpPr/>
            <p:nvPr userDrawn="1">
              <p:custDataLst>
                <p:tags r:id="rId3"/>
              </p:custDataLst>
            </p:nvPr>
          </p:nvSpPr>
          <p:spPr>
            <a:xfrm rot="10800000">
              <a:off x="5055555" y="0"/>
              <a:ext cx="2080887" cy="165067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任意多边形: 形状 6"/>
            <p:cNvSpPr/>
            <p:nvPr userDrawn="1">
              <p:custDataLst>
                <p:tags r:id="rId4"/>
              </p:custDataLst>
            </p:nvPr>
          </p:nvSpPr>
          <p:spPr>
            <a:xfrm>
              <a:off x="5676777" y="6135202"/>
              <a:ext cx="838445" cy="722798"/>
            </a:xfrm>
            <a:custGeom>
              <a:avLst/>
              <a:gdLst>
                <a:gd name="connsiteX0" fmla="*/ 419223 w 838445"/>
                <a:gd name="connsiteY0" fmla="*/ 0 h 722798"/>
                <a:gd name="connsiteX1" fmla="*/ 838445 w 838445"/>
                <a:gd name="connsiteY1" fmla="*/ 722798 h 722798"/>
                <a:gd name="connsiteX2" fmla="*/ 0 w 838445"/>
                <a:gd name="connsiteY2" fmla="*/ 722798 h 722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8445" h="722798">
                  <a:moveTo>
                    <a:pt x="419223" y="0"/>
                  </a:moveTo>
                  <a:lnTo>
                    <a:pt x="838445" y="722798"/>
                  </a:lnTo>
                  <a:lnTo>
                    <a:pt x="0" y="7227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三角形 5"/>
            <p:cNvSpPr/>
            <p:nvPr userDrawn="1">
              <p:custDataLst>
                <p:tags r:id="rId5"/>
              </p:custDataLst>
            </p:nvPr>
          </p:nvSpPr>
          <p:spPr>
            <a:xfrm>
              <a:off x="3028067" y="2477828"/>
              <a:ext cx="392165" cy="33807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6"/>
            <p:cNvSpPr/>
            <p:nvPr userDrawn="1">
              <p:custDataLst>
                <p:tags r:id="rId6"/>
              </p:custDataLst>
            </p:nvPr>
          </p:nvSpPr>
          <p:spPr>
            <a:xfrm rot="2748548">
              <a:off x="8939137" y="3459125"/>
              <a:ext cx="392165" cy="33807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3420232" y="2917321"/>
            <a:ext cx="5352795" cy="900247"/>
          </a:xfrm>
        </p:spPr>
        <p:txBody>
          <a:bodyPr vert="horz" lIns="90000" tIns="46800" rIns="9000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95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3419475" y="4115997"/>
            <a:ext cx="5457825" cy="541734"/>
          </a:xfrm>
        </p:spPr>
        <p:txBody>
          <a:bodyPr lIns="91440" tIns="0" rIns="91440" bIns="45720"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spc="300" baseline="0"/>
            </a:lvl1pPr>
          </a:lstStyle>
          <a:p>
            <a:pPr lvl="0"/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3" name="任意多边形: 形状 12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1" y="498476"/>
            <a:ext cx="10852237" cy="331473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1" cy="62496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 baseline="0">
              <a:solidFill>
                <a:schemeClr val="tx1">
                  <a:lumMod val="85000"/>
                  <a:lumOff val="1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三角形 6"/>
          <p:cNvSpPr/>
          <p:nvPr userDrawn="1">
            <p:custDataLst>
              <p:tags r:id="rId3"/>
            </p:custDataLst>
          </p:nvPr>
        </p:nvSpPr>
        <p:spPr>
          <a:xfrm rot="10800000">
            <a:off x="240665" y="0"/>
            <a:ext cx="1268731" cy="82550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三角形 7"/>
          <p:cNvSpPr/>
          <p:nvPr userDrawn="1">
            <p:custDataLst>
              <p:tags r:id="rId4"/>
            </p:custDataLst>
          </p:nvPr>
        </p:nvSpPr>
        <p:spPr>
          <a:xfrm>
            <a:off x="10157460" y="5823585"/>
            <a:ext cx="1449071" cy="102997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三角形 8"/>
          <p:cNvSpPr/>
          <p:nvPr userDrawn="1">
            <p:custDataLst>
              <p:tags r:id="rId5"/>
            </p:custDataLst>
          </p:nvPr>
        </p:nvSpPr>
        <p:spPr>
          <a:xfrm>
            <a:off x="11200765" y="6153150"/>
            <a:ext cx="991235" cy="70485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kumimoji="1" lang="zh-CN" alt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 hasCustomPrompt="1"/>
            <p:custDataLst>
              <p:tags r:id="rId7"/>
            </p:custDataLst>
          </p:nvPr>
        </p:nvSpPr>
        <p:spPr>
          <a:xfrm>
            <a:off x="1281113" y="2594250"/>
            <a:ext cx="9626600" cy="25839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4" name="组合 13"/>
          <p:cNvGrpSpPr/>
          <p:nvPr userDrawn="1">
            <p:custDataLst>
              <p:tags r:id="rId3"/>
            </p:custDataLst>
          </p:nvPr>
        </p:nvGrpSpPr>
        <p:grpSpPr>
          <a:xfrm>
            <a:off x="-1" y="5207000"/>
            <a:ext cx="1807912" cy="1667994"/>
            <a:chOff x="-1" y="5000255"/>
            <a:chExt cx="2032000" cy="1874739"/>
          </a:xfrm>
        </p:grpSpPr>
        <p:sp>
          <p:nvSpPr>
            <p:cNvPr id="15" name="任意多边形: 形状 14"/>
            <p:cNvSpPr/>
            <p:nvPr>
              <p:custDataLst>
                <p:tags r:id="rId4"/>
              </p:custDataLst>
            </p:nvPr>
          </p:nvSpPr>
          <p:spPr>
            <a:xfrm flipH="1">
              <a:off x="965649" y="5786718"/>
              <a:ext cx="1066350" cy="108827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三角形 7"/>
            <p:cNvSpPr/>
            <p:nvPr>
              <p:custDataLst>
                <p:tags r:id="rId5"/>
              </p:custDataLst>
            </p:nvPr>
          </p:nvSpPr>
          <p:spPr>
            <a:xfrm flipH="1">
              <a:off x="-1" y="5000255"/>
              <a:ext cx="1211405" cy="1874739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8"/>
            <p:cNvSpPr/>
            <p:nvPr>
              <p:custDataLst>
                <p:tags r:id="rId6"/>
              </p:custDataLst>
            </p:nvPr>
          </p:nvSpPr>
          <p:spPr>
            <a:xfrm rot="10800000" flipH="1">
              <a:off x="594749" y="5786311"/>
              <a:ext cx="636641" cy="472228"/>
            </a:xfrm>
            <a:prstGeom prst="triangle">
              <a:avLst/>
            </a:prstGeom>
            <a:solidFill>
              <a:schemeClr val="accent3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7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586800" y="2275650"/>
            <a:ext cx="3956400" cy="3069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5101200" y="1405930"/>
            <a:ext cx="6480000" cy="3815953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 flipH="1">
            <a:off x="10638971" y="0"/>
            <a:ext cx="1553029" cy="1432837"/>
            <a:chOff x="10898414" y="5656121"/>
            <a:chExt cx="1293586" cy="1193473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7"/>
            <p:cNvSpPr/>
            <p:nvPr>
              <p:custDataLst>
                <p:tags r:id="rId5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三角形 8"/>
            <p:cNvSpPr/>
            <p:nvPr>
              <p:custDataLst>
                <p:tags r:id="rId6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/>
          <a:lstStyle>
            <a:lvl1pPr algn="ctr">
              <a:defRPr sz="27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612000" y="1763100"/>
            <a:ext cx="10975975" cy="621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12775" y="3236850"/>
            <a:ext cx="10965600" cy="25731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>
            <p:custDataLst>
              <p:tags r:id="rId2"/>
            </p:custDataLst>
          </p:nvPr>
        </p:nvGrpSpPr>
        <p:grpSpPr>
          <a:xfrm rot="10800000" flipH="1">
            <a:off x="10638971" y="0"/>
            <a:ext cx="1553029" cy="1432837"/>
            <a:chOff x="10898414" y="5656121"/>
            <a:chExt cx="1293586" cy="1193473"/>
          </a:xfrm>
        </p:grpSpPr>
        <p:sp>
          <p:nvSpPr>
            <p:cNvPr id="16" name="任意多边形: 形状 15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04800" y="740250"/>
            <a:ext cx="10976400" cy="423900"/>
          </a:xfrm>
        </p:spPr>
        <p:txBody>
          <a:bodyPr lIns="90000" tIns="46800" rIns="90000" bIns="46800" anchor="ctr">
            <a:normAutofit/>
          </a:bodyPr>
          <a:lstStyle>
            <a:lvl1pPr algn="ctr">
              <a:lnSpc>
                <a:spcPct val="100000"/>
              </a:lnSpc>
              <a:defRPr sz="24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1"/>
            </p:custDataLst>
          </p:nvPr>
        </p:nvSpPr>
        <p:spPr>
          <a:xfrm>
            <a:off x="604837" y="2082600"/>
            <a:ext cx="10990800" cy="2408400"/>
          </a:xfrm>
        </p:spPr>
        <p:txBody>
          <a:bodyPr lIns="90000" tIns="46800" rIns="90000" bIns="46800"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2"/>
            </p:custDataLst>
          </p:nvPr>
        </p:nvSpPr>
        <p:spPr>
          <a:xfrm>
            <a:off x="594000" y="5306850"/>
            <a:ext cx="11001600" cy="758700"/>
          </a:xfrm>
        </p:spPr>
        <p:txBody>
          <a:bodyPr lIns="90000" tIns="46800" rIns="90000" bIns="468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92846"/>
            <a:ext cx="11037600" cy="33147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2025000"/>
            <a:ext cx="5367600" cy="217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914450"/>
            <a:ext cx="53424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910850"/>
            <a:ext cx="53676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9" name="组合 18"/>
          <p:cNvGrpSpPr/>
          <p:nvPr userDrawn="1">
            <p:custDataLst>
              <p:tags r:id="rId3"/>
            </p:custDataLst>
          </p:nvPr>
        </p:nvGrpSpPr>
        <p:grpSpPr>
          <a:xfrm>
            <a:off x="0" y="4462145"/>
            <a:ext cx="2067560" cy="2386965"/>
            <a:chOff x="0" y="4462199"/>
            <a:chExt cx="2587015" cy="2386801"/>
          </a:xfrm>
        </p:grpSpPr>
        <p:sp>
          <p:nvSpPr>
            <p:cNvPr id="20" name="任意多边形: 形状 19"/>
            <p:cNvSpPr/>
            <p:nvPr>
              <p:custDataLst>
                <p:tags r:id="rId4"/>
              </p:custDataLst>
            </p:nvPr>
          </p:nvSpPr>
          <p:spPr>
            <a:xfrm flipH="1">
              <a:off x="1229405" y="5463474"/>
              <a:ext cx="1357610" cy="138552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三角形 7"/>
            <p:cNvSpPr/>
            <p:nvPr>
              <p:custDataLst>
                <p:tags r:id="rId5"/>
              </p:custDataLst>
            </p:nvPr>
          </p:nvSpPr>
          <p:spPr>
            <a:xfrm flipH="1">
              <a:off x="0" y="4462199"/>
              <a:ext cx="1542284" cy="238680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三角形 8"/>
            <p:cNvSpPr/>
            <p:nvPr>
              <p:custDataLst>
                <p:tags r:id="rId6"/>
              </p:custDataLst>
            </p:nvPr>
          </p:nvSpPr>
          <p:spPr>
            <a:xfrm rot="10800000" flipH="1">
              <a:off x="757198" y="5462956"/>
              <a:ext cx="810531" cy="60121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7"/>
            </p:custDataLst>
          </p:nvPr>
        </p:nvGrpSpPr>
        <p:grpSpPr>
          <a:xfrm rot="10800000">
            <a:off x="10121900" y="0"/>
            <a:ext cx="2067560" cy="2386965"/>
            <a:chOff x="0" y="4462199"/>
            <a:chExt cx="2587015" cy="2386801"/>
          </a:xfrm>
        </p:grpSpPr>
        <p:sp>
          <p:nvSpPr>
            <p:cNvPr id="24" name="任意多边形: 形状 23"/>
            <p:cNvSpPr/>
            <p:nvPr>
              <p:custDataLst>
                <p:tags r:id="rId8"/>
              </p:custDataLst>
            </p:nvPr>
          </p:nvSpPr>
          <p:spPr>
            <a:xfrm flipH="1">
              <a:off x="1229405" y="5463474"/>
              <a:ext cx="1357610" cy="138552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三角形 7"/>
            <p:cNvSpPr/>
            <p:nvPr>
              <p:custDataLst>
                <p:tags r:id="rId9"/>
              </p:custDataLst>
            </p:nvPr>
          </p:nvSpPr>
          <p:spPr>
            <a:xfrm flipH="1">
              <a:off x="0" y="4462199"/>
              <a:ext cx="1542284" cy="238680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三角形 8"/>
            <p:cNvSpPr/>
            <p:nvPr>
              <p:custDataLst>
                <p:tags r:id="rId10"/>
              </p:custDataLst>
            </p:nvPr>
          </p:nvSpPr>
          <p:spPr>
            <a:xfrm rot="10800000" flipH="1">
              <a:off x="757198" y="5462956"/>
              <a:ext cx="810531" cy="60121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1522800" y="1637550"/>
            <a:ext cx="9144000" cy="17901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4500" b="1" strike="noStrike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5"/>
            </p:custDataLst>
          </p:nvPr>
        </p:nvSpPr>
        <p:spPr>
          <a:xfrm>
            <a:off x="1522413" y="4069800"/>
            <a:ext cx="9144000" cy="12420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117600" y="6356351"/>
            <a:ext cx="36576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84800" y="6356351"/>
            <a:ext cx="54864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80800" y="6356351"/>
            <a:ext cx="36576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8708" y="98448"/>
            <a:ext cx="10348383" cy="75723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67833" y="1081089"/>
            <a:ext cx="11142133" cy="505618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8" Type="http://schemas.openxmlformats.org/officeDocument/2006/relationships/theme" Target="../theme/theme2.xml"/><Relationship Id="rId27" Type="http://schemas.openxmlformats.org/officeDocument/2006/relationships/tags" Target="../tags/tag191.xml"/><Relationship Id="rId26" Type="http://schemas.openxmlformats.org/officeDocument/2006/relationships/tags" Target="../tags/tag190.xml"/><Relationship Id="rId25" Type="http://schemas.openxmlformats.org/officeDocument/2006/relationships/tags" Target="../tags/tag189.xml"/><Relationship Id="rId24" Type="http://schemas.openxmlformats.org/officeDocument/2006/relationships/tags" Target="../tags/tag188.xml"/><Relationship Id="rId23" Type="http://schemas.openxmlformats.org/officeDocument/2006/relationships/tags" Target="../tags/tag187.xml"/><Relationship Id="rId22" Type="http://schemas.openxmlformats.org/officeDocument/2006/relationships/tags" Target="../tags/tag186.xml"/><Relationship Id="rId21" Type="http://schemas.openxmlformats.org/officeDocument/2006/relationships/image" Target="../media/image1.png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>
            <a:alphaModFix amt="1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0040" y="219075"/>
            <a:ext cx="11821160" cy="691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405" y="1100455"/>
            <a:ext cx="11821795" cy="5259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9405" y="64331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217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91015" y="64217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5945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5189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1">
            <a:alphaModFix amt="1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6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7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1965960"/>
            <a:ext cx="6185001" cy="1051560"/>
          </a:xfrm>
        </p:spPr>
        <p:txBody>
          <a:bodyPr wrap="none"/>
          <a:lstStyle/>
          <a:p>
            <a:r>
              <a:rPr sz="54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Web编程</a:t>
            </a:r>
            <a:endParaRPr sz="54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88000" y="3315970"/>
            <a:ext cx="6309360" cy="2103120"/>
          </a:xfrm>
        </p:spPr>
        <p:txBody>
          <a:bodyPr wrap="non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第9周 · 契约工程</a:t>
            </a:r>
            <a:endParaRPr sz="2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TypeScript 与单元测试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从动态类型到静态契约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从手动验证到自动化测试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none"/>
          <a:lstStyle/>
          <a:p>
            <a:pPr algn="r"/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蔡树彬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 wrap="none"/>
          <a:lstStyle/>
          <a:p>
            <a:pPr algn="r"/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2026.10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0" y="5394960"/>
            <a:ext cx="6309360" cy="457200"/>
          </a:xfrm>
          <a:prstGeom prst="roundRect">
            <a:avLst>
              <a:gd name="adj" fmla="val 3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AI增强型工程实践</a:t>
            </a:r>
            <a:endParaRPr sz="2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引入：AIGC 时代的代码质量挑战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5486400" cy="2578608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AI 一秒钟写出的 100 行业务逻辑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handleOrder(order)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items = order.items;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total = calcTotal(items);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user = findUser(order.userId);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return { user, total, ...order };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...还有 90 多行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48640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左边：AI 的生成速度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309360" y="1508760"/>
            <a:ext cx="5486400" cy="2578608"/>
          </a:xfrm>
          <a:prstGeom prst="roundRect">
            <a:avLst>
              <a:gd name="adj" fmla="val 3000"/>
            </a:avLst>
          </a:prstGeom>
          <a:solidFill>
            <a:srgbClr val="2B2B2B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 node server.js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TypeError: Cannot read properties of null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at handleOrder (server.js:12:18)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at processOrder (server.js:44:7)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用户看到：白屏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你看到：半夜报警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09360" y="1143000"/>
            <a:ext cx="548640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右边：上线之后的代价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4160520"/>
            <a:ext cx="11064240" cy="841248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在代码量快速增长的背景下 —— 如何保证代码的正确性？</a:t>
            </a:r>
            <a:endParaRPr sz="22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5120640"/>
            <a:ext cx="5440680" cy="941832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防线一　类型约束（TypeScript）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检查结构与类型错误，在编辑期报红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2200" y="5120640"/>
            <a:ext cx="5440680" cy="941832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防线二　单元测试（Unit Test）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验证约定的行为，跑一遍就知道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6144768"/>
            <a:ext cx="11292840" cy="512064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类型检查与单元测试互补 —— 但都不能替代开发者的判断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10" grpId="0" animBg="1"/>
      <p:bldP spid="9" grpId="1" animBg="1"/>
      <p:bldP spid="10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语言演进：类型系统的作用与边界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5349240" cy="242316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/ C++：类型 = 内存布局</a:t>
            </a:r>
            <a:endParaRPr sz="21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类型参与编译期检查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决定对象布局与运算规则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影响接口能否对接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7920" y="1508760"/>
            <a:ext cx="5349240" cy="242316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TypeScript：类型 = 契约</a:t>
            </a:r>
            <a:endParaRPr sz="21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用于开发阶段的静态检查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描述数据与函数的契约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编译之后类型被擦除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4206240"/>
            <a:ext cx="10927080" cy="1481328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 不是走回头路，是进化</a:t>
            </a:r>
            <a:endParaRPr sz="25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类型即文档，类型即契约 —— 也是 AI 时代高效的 Prompt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类型声明不保留在编译产物中 —— 最终运行的是纯 JavaScript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5806440"/>
            <a:ext cx="11292840" cy="658368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机器码 → 汇编 → C/C++：类型定内存 → JS：运行时动态 → TS：编译期契约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6" grpId="0" animBg="1"/>
      <p:bldP spid="5" grpId="1" animBg="1"/>
      <p:bldP spid="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静态类型检查与类型擦除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4754880" cy="219456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index.ts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interface Todo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id: number; text: string;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getText(t: Todo): string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return t.text;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19"/>
            <a:ext cx="475488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编译前：TS 源码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349240" y="2148840"/>
            <a:ext cx="1005840" cy="68580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擦除 →</a:t>
            </a:r>
            <a:endParaRPr sz="18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5212080" cy="219456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index.js（浏览器跑的是这个）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getText(t)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return t.text;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interface Todo 消失了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188719"/>
            <a:ext cx="521208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编译后：交给浏览器的产物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3977639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为什么只能这样？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主流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浏览器执行的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 JS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，（不易改）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为了兼容，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 只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做检查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查完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类型等问题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转成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endParaRPr lang="zh-CN"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20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TypeScript 只在编译期做静态检查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静态检查 ≠ 运行时验证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后端返回 null，类型检查器也拦不住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5925312"/>
            <a:ext cx="11292840" cy="566928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既然编译之后契约就消失了，谁来守住运行时的底线？—— 单元测试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5" grpId="1" animBg="1"/>
      <p:bldP spid="6" grpId="1" animBg="1"/>
      <p:bldP spid="8" grpId="0" animBg="1"/>
      <p:bldP spid="8" grpId="1" animBg="1"/>
      <p:bldP spid="9" grpId="0" animBg="1"/>
      <p:bldP spid="10" grpId="0" animBg="1"/>
      <p:bldP spid="9" grpId="1" animBg="1"/>
      <p:bldP spid="10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结构类型系统与名义类型系统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10847070" cy="777240"/>
          </a:xfrm>
          <a:prstGeom prst="roundRect">
            <a:avLst>
              <a:gd name="adj" fmla="val 3000"/>
            </a:avLst>
          </a:prstGeom>
          <a:solidFill>
            <a:srgbClr val="4874C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只要长得像鸭子，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走起路、叫起来也像鸭子，那</a:t>
            </a: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可以把它当做</a:t>
            </a: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鸭子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2468880"/>
            <a:ext cx="5852160" cy="349504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interface Point { x: number; y: number };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a = { x: 1, y: 2, z: 3 };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pa: Point = a;      // ✅ 多余成员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altLang="zh-CN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altLang="zh-CN"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console.log(a.z);  //</a:t>
            </a: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z</a:t>
            </a:r>
            <a:r>
              <a:rPr lang="zh-CN" sz="1800" b="0">
                <a:solidFill>
                  <a:srgbClr val="FFFFFF"/>
                </a:solidFill>
                <a:latin typeface="Consolas" panose="020B0609020204030204"/>
                <a:ea typeface="Consolas" panose="020B0609020204030204" pitchFamily="2" charset="-122"/>
                <a:cs typeface="Consolas" panose="020B0609020204030204"/>
              </a:rPr>
              <a:t>一直都</a:t>
            </a: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在，只是“藏”起来了</a:t>
            </a:r>
            <a:endParaRPr lang="en-US" altLang="zh-CN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altLang="zh-CN"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console.log((pa as any).z); </a:t>
            </a:r>
            <a:endParaRPr lang="en-US" altLang="zh-CN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altLang="zh-CN"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{ z } = a; </a:t>
            </a:r>
            <a:endParaRPr lang="en-US" altLang="zh-CN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endParaRPr lang="en-US" altLang="zh-CN"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b = { x: 1 };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pb: Point = b;      // ❌ 缺少 y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8521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结构兼容的实际含义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0" y="2560320"/>
            <a:ext cx="5029200" cy="260159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什么是结构类型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兼容性看成员结构，不看结构名字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对照：C++ / Java 是名义类型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看声明的类型身份，不看结构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注意边界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成员类型不匹配，照样报错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6035040"/>
            <a:ext cx="11292840" cy="566928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结构兼容 ≠ 任意兼容；对象字面量直接赋值还会触发额外属性检查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 A：契约先行（Interface 的作用范围）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43584"/>
            <a:ext cx="10927080" cy="512064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给出的数据结构千奇百怪 —— 怎么一眼看出它是否符合预期？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371600" y="2176272"/>
            <a:ext cx="9418320" cy="1572768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interface</a:t>
            </a: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Todo { id: number; text: string; completed: boolean; 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todo = JSON.parse(rawData) as Todo;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类型断言本身不提供任何运行时校验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810512"/>
            <a:ext cx="941832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先把契约写下来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5349240" cy="178308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能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检查数据使用是否一致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拼错属性、类型不匹配会报红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编辑器补全有了依据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349240" cy="178308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❌ 不能</a:t>
            </a:r>
            <a:endParaRPr sz="20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不会自动校验运行时数据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接口返回的 JSON 照错不误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必须自己写运行时校验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6144768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interface 是编译期的契约声明，不是运行时的校验器 —— 这两件事不能混为一谈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 B：空值收窄（处理 null 类型）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170432"/>
            <a:ext cx="10927080" cy="512064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closest('li').dataset.id —— 点到空白处就崩溃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2084831"/>
            <a:ext cx="5394960" cy="2286000"/>
          </a:xfrm>
          <a:prstGeom prst="roundRect">
            <a:avLst>
              <a:gd name="adj" fmla="val 3000"/>
            </a:avLst>
          </a:prstGeom>
          <a:solidFill>
            <a:srgbClr val="B53A48"/>
          </a:solidFill>
          <a:ln w="12700">
            <a:solidFill>
              <a:srgbClr val="B5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W8：JS 版本（能跑，但会崩）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item = el.closest('li');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id = item.dataset.id;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item 为 null 时：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TypeError: Cannot read properties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of null (reading 'dataset')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719072"/>
            <a:ext cx="53949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重构前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0" y="2084831"/>
            <a:ext cx="5669280" cy="260604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W9：TS + 收窄（strict 模式）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item = el.closest('li');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(!item) return;            // 先挡住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id = item.dataset.id;   // 收窄后安全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不写那句 if 会怎样？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'item' is possibly 'null'. ts(18047)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—— 编辑期就画红线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0" y="1719072"/>
            <a:ext cx="566928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重构后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4919472"/>
            <a:ext cx="5349240" cy="1078992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前提条件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开启 strictNullChecks；不用 any 与 ! 绕过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4919472"/>
            <a:ext cx="5349240" cy="1078992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endParaRPr sz="19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一部分空值错误，从运行时提前到编译期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6108192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TS 只能覆盖「可静态分析」的空值 —— 来自外部接口的脏数据，仍然要靠运行时校验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类型收窄的四种手段与风险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98448"/>
          <a:ext cx="11201398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36159"/>
                <a:gridCol w="2696966"/>
                <a:gridCol w="4512923"/>
                <a:gridCol w="2355350"/>
              </a:tblGrid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手段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语法示例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机制与风险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适用场景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条件收窄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if (!item) return;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运行时拦截，后续代码不因 null 崩溃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可能为 null 的返回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类型守卫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if (e.target instanceof Element)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运行时检查类型，TS 据此收窄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EventTarget 等宽泛类型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类型断言 as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e.target as HTMLElement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只告诉编译器按此类型理解，无运行时验证；断言不符仍会出错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外部数据（已确认）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非空断言 !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item!.dataset.id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绕过空值检查；运行时为 null 会抛错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仅限确定不会被置空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" y="4754880"/>
            <a:ext cx="10927080" cy="91440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本课程的使用约束</a:t>
            </a:r>
            <a:endParaRPr sz="20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优先用条件收窄与类型守卫；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慎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! 或 as any 来「消除」类型报错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5797296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收窄不是把报错关掉 —— 是让编译器知道「你已经处理过这个分支」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 C：状态收束（字面量联合类型）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10927080" cy="512064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filter = 'completd' 拼错一个字母 —— 页面不渲染，查半天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2084831"/>
            <a:ext cx="5394960" cy="2148840"/>
          </a:xfrm>
          <a:prstGeom prst="roundRect">
            <a:avLst>
              <a:gd name="adj" fmla="val 3000"/>
            </a:avLst>
          </a:prstGeom>
          <a:solidFill>
            <a:srgbClr val="B53A48"/>
          </a:solidFill>
          <a:ln w="12700">
            <a:solidFill>
              <a:srgbClr val="B5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重构前：字符串随便写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let filter = 'all';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filter = 'completd';  // ❌ 拼错不报错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filter = 'completed'; // ✅ 另一个值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页面白屏，控制台一片安静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719072"/>
            <a:ext cx="53949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重构前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0" y="2084831"/>
            <a:ext cx="5669280" cy="2523744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重构后：字面量联合类型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type Filter =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'all' | 'active' | 'completed';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let filter: Filter = 'all';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filter = 'completd';     // ❌ ts(2322)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filter = 'completed';    // ✅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手滑的瞬间就被拦住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0" y="1719072"/>
            <a:ext cx="566928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重构后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4681728"/>
            <a:ext cx="5349240" cy="118872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endParaRPr sz="19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可静态检查的状态赋值，提前发现不合规的值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4681728"/>
            <a:ext cx="5349240" cy="118872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 URL 参数的输入，仍需运行时校验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5989320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联合类型管的是「写死在代码里的值」；外部世界给的值，编译期管不着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重构分析：类型不匹配的暴露与处理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170432"/>
            <a:ext cx="10927080" cy="530352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URL 参数 / localStorage 取出的是字符串，而数据模型要求 number —— 类型不匹配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792224"/>
            <a:ext cx="4343400" cy="1938528"/>
          </a:xfrm>
          <a:prstGeom prst="roundRect">
            <a:avLst>
              <a:gd name="adj" fmla="val 3000"/>
            </a:avLst>
          </a:prstGeom>
          <a:solidFill>
            <a:srgbClr val="B53A48"/>
          </a:solidFill>
          <a:ln w="12700">
            <a:solidFill>
              <a:srgbClr val="B5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未处理：类型不匹配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id = item.dataset.id;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toggleTodo(id);  // 需要 number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传 "123abc"：逻辑</a:t>
            </a:r>
            <a:r>
              <a:rPr lang="zh-CN" sz="1800" b="0">
                <a:solidFill>
                  <a:srgbClr val="FFFFFF"/>
                </a:solidFill>
                <a:latin typeface="Consolas" panose="020B0609020204030204"/>
                <a:ea typeface="宋体" panose="02010600030101010101" pitchFamily="2" charset="-122"/>
                <a:cs typeface="Consolas" panose="020B0609020204030204"/>
              </a:rPr>
              <a:t>异常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没报错，只是结果不对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983480" y="1792224"/>
            <a:ext cx="6583680" cy="2340864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处理后：转换 + 校验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rawId = item.dataset.id;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(!rawId || rawId.trim() === '') return;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id = Number(rawId);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业务契约：id 必须是正整数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(!Number.isSafeInteger(id) || id &lt;= 0) return;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toggleTodo(id);   // id: number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4224528"/>
            <a:ext cx="10927080" cy="54864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既然都要写 Number.isSafeInteger，那 TS 到底起了什么作用？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4864608"/>
            <a:ext cx="10927080" cy="1078992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如果没有 TS，你</a:t>
            </a:r>
            <a:r>
              <a:rPr lang="zh-CN"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</a:t>
            </a: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根本想不起来要写这个校验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toggleTodo(id: number) 的声明让编辑器先画了红线，逼你直面底层数据的转换；而 Number.isSafeInteger 这类校验，是运行时必须自己写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（查）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的防线。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6035040"/>
            <a:ext cx="11292840" cy="493776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类型检查发现不匹配，运行时校验确保数据有效 —— 两者共同构成防御体系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7" grpId="1" animBg="1"/>
      <p:bldP spid="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1005840" y="1371600"/>
            <a:ext cx="10149840" cy="1554480"/>
          </a:xfrm>
          <a:prstGeom prst="roundRect">
            <a:avLst>
              <a:gd name="adj" fmla="val 3000"/>
            </a:avLst>
          </a:prstGeom>
          <a:solidFill>
            <a:srgbClr val="4874C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类型检查能发现结构错误，</a:t>
            </a:r>
            <a:endParaRPr sz="2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能验证业务逻辑是否正确吗？</a:t>
            </a:r>
            <a:endParaRPr sz="2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463040" y="3200400"/>
            <a:ext cx="9235440" cy="132588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举例：已完成的任务不能被再次切换</a:t>
            </a:r>
            <a:endParaRPr sz="21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即使 id 传的是 number，类型系统也不知道这条业务规则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类型管的是「形状」，管不了「语义」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463040" y="4709160"/>
            <a:ext cx="9235440" cy="77724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要验证行为，就得靠 —— 单元测试（Unit Test）</a:t>
            </a:r>
            <a:endParaRPr sz="23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4" grpId="1" animBg="1"/>
      <p:bldP spid="5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Node.js 与 npm 的作用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349240" cy="1901952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Node.js：JavaScript 运行时环境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JS 脱离浏览器，在操作系统上运行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测试代码与构建工具都依赖这个环境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7920" y="1417320"/>
            <a:ext cx="5349240" cy="1901952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npm：Node.js 的包管理器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 package.json 里的依赖声明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自动下载依赖包，并管理项目脚本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3840480"/>
            <a:ext cx="5349240" cy="1664208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按 package.json 装齐依赖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npm install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脚本入口，全组敲同一条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npm run test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34924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终端里就这两条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349240" cy="1664208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工程规范：统一脚本入口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package.json 里配好 scripts，入口一致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便于团队协作与 CI/CD 集成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5623560"/>
            <a:ext cx="11292840" cy="621792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Node.js 提供运行环境；npm 管依赖与脚本；npm run test 是团队与 CI 的统一入口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Vite 的核心职责与支持范围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98448"/>
            <a:ext cx="5349240" cy="1481328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核心职责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现代前端的开发服务器与构建工具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模块处理、工程构建、热更新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7920" y="1298448"/>
            <a:ext cx="5349240" cy="1481328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 TypeScript 的支持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直接处理 .ts 文件，交给高性能转译器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转成 JS，并剥离全部类型信息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862072"/>
            <a:ext cx="10927080" cy="877824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边界说明　</a:t>
            </a:r>
            <a:r>
              <a:rPr sz="21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转译 ≠ 类型检查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有类型错误通常仍能转译，但不代表能构建成功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Vite 只负责「变成浏览器能跑的 JS」，它不做类型判定。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3877056"/>
            <a:ext cx="5349240" cy="146304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职责拆分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Vite 负责转译与构建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tsc / vue-tsc 负责类型检查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先查类型，再打包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3877056"/>
            <a:ext cx="5349240" cy="146304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先查类型，再执行生产构建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tsc --noEmit    → 只做类型检查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vite build      → 只做打包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"build": "tsc --noEmit &amp;&amp; vite build"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5468112"/>
            <a:ext cx="10927080" cy="841248"/>
          </a:xfrm>
          <a:prstGeom prst="roundRect">
            <a:avLst>
              <a:gd name="adj" fmla="val 3000"/>
            </a:avLst>
          </a:prstGeom>
          <a:solidFill>
            <a:srgbClr val="4874C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代码能跑，不代表类型检查通过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类型检查通过，也不代表代码没有运行时错误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Vitest 测试框架与运行环境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80644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定位：基于 Vite 工具链的单测框架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2514600"/>
            <a:ext cx="580644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安装：npm install -D vitest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3566160"/>
            <a:ext cx="580644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运行：npm run test（即 vitest run）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4617720"/>
            <a:ext cx="580644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环境：默认 Node.js；测DOM再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装、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 jsdom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29400" y="1463040"/>
            <a:ext cx="5257800" cy="2029968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todo.test.ts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import { test, expect } from 'vitest';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test('1 + 1',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expect(1 + 1).toBe(2);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29400" y="1097280"/>
            <a:ext cx="525780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一个能跑的最小文件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9400" y="3877056"/>
            <a:ext cx="5257800" cy="1755648"/>
          </a:xfrm>
          <a:prstGeom prst="roundRect">
            <a:avLst>
              <a:gd name="adj" fmla="val 3000"/>
            </a:avLst>
          </a:prstGeom>
          <a:solidFill>
            <a:srgbClr val="2B2B2B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 npm run test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✓ todo.test.ts (1)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✓ 1 + 1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Test Files  1 passed (1)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29400" y="3511296"/>
            <a:ext cx="525780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绿色就是通过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833872"/>
            <a:ext cx="11292840" cy="566928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默认在 Node.js 环境跑逻辑测试；要测真实 DOM 渲染时再切到 jsdom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模块导入：显式依赖声明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66928" y="1417320"/>
            <a:ext cx="5486400" cy="2148840"/>
          </a:xfrm>
          <a:prstGeom prst="roundRect">
            <a:avLst>
              <a:gd name="adj" fmla="val 3000"/>
            </a:avLst>
          </a:prstGeom>
          <a:solidFill>
            <a:srgbClr val="B53A48"/>
          </a:solidFill>
          <a:ln w="12700">
            <a:solidFill>
              <a:srgbClr val="B5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只装不引：测试跑不起来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 npm install -D vitest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但当前文件里没有 test 这个名字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test('x', () =&gt; {});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❌ test is not defined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548640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 ≠ 可用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49240" cy="214884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显式引入：从仓库里把工具调出来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import { test, expect } from 'vitest';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test('x',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expect(1).toBe(1);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   // ✅ 名字有了，才能用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0" y="1051560"/>
            <a:ext cx="534924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import 之后才可用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10927080" cy="137160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工程规范：显式依赖声明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看文件头部的 import，就知道这个文件依赖什么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不用没 import 的全局变量 —— 避免命名冲突，依赖关系也更清楚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单测核心语法：test / expect / toBe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83280" cy="11887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</a:t>
            </a:r>
            <a:endParaRPr sz="24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定义一个测试用例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89120" y="1417320"/>
            <a:ext cx="3383280" cy="118872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expect</a:t>
            </a:r>
            <a:endParaRPr sz="24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发起一个断言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3383280" cy="118872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.toBe()</a:t>
            </a:r>
            <a:endParaRPr sz="24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比对具体的值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463040" y="2999232"/>
            <a:ext cx="9235440" cy="278892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import { test, expect } from 'vitest';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import { addTodo } from './todo';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test('正常添加',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todos: Todo[] = [];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addTodo(todos, '学习TS');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expect(todos.length).toBe(1);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expect(todos[0].text).toBe('学习TS');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2633472"/>
            <a:ext cx="923544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最小的完整例子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5961888"/>
            <a:ext cx="11292840" cy="566928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test 定义用例 / expect 发起断言 / toBe 比对具体值 —— 三个词就是一套最小测试语言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测试用例的两个维度：正常行为与错误处理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>
            <p:custDataLst>
              <p:tags r:id="rId1"/>
            </p:custDataLst>
          </p:nvPr>
        </p:nvSpPr>
        <p:spPr>
          <a:xfrm>
            <a:off x="640080" y="1371600"/>
            <a:ext cx="5349240" cy="16459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正常行为（</a:t>
            </a:r>
            <a:r>
              <a:rPr lang="zh-CN"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正常值、边界值</a:t>
            </a: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合法输入下，输出是否符合预期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例：添加成功、内容正确、长度 +1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>
            <p:custDataLst>
              <p:tags r:id="rId2"/>
            </p:custDataLst>
          </p:nvPr>
        </p:nvSpPr>
        <p:spPr>
          <a:xfrm>
            <a:off x="6217920" y="1371600"/>
            <a:ext cx="5349240" cy="164592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错误处理（契约导向）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无效输入下，函数是否遵守事先定义的契约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拦截 / 抛错 / 返回结果，都可能是正确答案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3"/>
            </p:custDataLst>
          </p:nvPr>
        </p:nvSpPr>
        <p:spPr>
          <a:xfrm>
            <a:off x="640080" y="3584448"/>
            <a:ext cx="5349240" cy="1572768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契约：合法文本 → 添加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test('添加成功',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addTodo(todos, '学习TS');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expect(todos.length).toBe(1);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640080" y="3218688"/>
            <a:ext cx="534924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验证正常路径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5"/>
            </p:custDataLst>
          </p:nvPr>
        </p:nvSpPr>
        <p:spPr>
          <a:xfrm>
            <a:off x="6217920" y="3584448"/>
            <a:ext cx="5349240" cy="1572768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契约：纯空格 → 拒绝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test('拦住纯空格',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addTodo(todos, '   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expect(todos.length).toBe(0);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6217920" y="3218688"/>
            <a:ext cx="534924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验证契约边界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5285232"/>
            <a:ext cx="10927080" cy="987552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关键：测试不是把一套模板套到所有函数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先问「这个函数答应了什么」（契约），再写用例验证它做到了没有。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异常值与安全测试的 9 个维度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92840" cy="475488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边界原则  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异常测试并非越多越好 —— 预期结果必须严格取决于业务需求（契约）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8912" y="1728216"/>
            <a:ext cx="4160520" cy="347472"/>
          </a:xfrm>
          <a:prstGeom prst="roundRect">
            <a:avLst>
              <a:gd name="adj" fmla="val 3000"/>
            </a:avLst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W9 核心必测区（纯数据函数）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5623560" cy="1847088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空值与假值：null、undefined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格式与内容：空字符串、纯空格、超长文本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类型不匹配：传 NaN 或错误类型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越界与不存在：不存在的 ID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状态前置条件：对已删除任务操作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重复与幂等：重复添加、连续点击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36792" y="1728216"/>
            <a:ext cx="3977639" cy="347472"/>
          </a:xfrm>
          <a:prstGeom prst="roundRect">
            <a:avLst>
              <a:gd name="adj" fmla="val 3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后续拓展区（W9 暂不涉及）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55080" y="2103120"/>
            <a:ext cx="5394960" cy="18470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⑦ 异步与时序：网络延迟、并发冲突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⑧ 外部依赖：localStorage 满、存储禁用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800" b="0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本周只测纯数据函数，这两类先知道存在</a:t>
            </a:r>
            <a:endParaRPr sz="1800" b="0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4041648"/>
            <a:ext cx="11292840" cy="36576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⑨ 安全与注入防范（分层防御）  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数据层（W9）管净化，渲染层管编码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4443984"/>
            <a:ext cx="7086600" cy="132588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数据层（W9）：拦截 + 转义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expect(todos.length).toBe(0);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expect(todos[0].text).not.toContain('&lt;script&gt;');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26679" y="4443984"/>
            <a:ext cx="4023360" cy="1325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渲染层：输出编码</a:t>
            </a:r>
            <a:endParaRPr sz="1800" b="1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测是否作为纯文本渲染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未作为 DOM 执行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852160"/>
            <a:ext cx="11292840" cy="768985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把 9 个维度当「雷达」：逐项对照，看 AI 生成的测试漏了契约里的哪一条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还有状态残留、数据精度等更多维度，具体测试范围需依据当前业务的契约边界来界定。</a:t>
            </a:r>
            <a:endParaRPr lang="zh-CN" altLang="en-US"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测试环境的隔离与清理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389888"/>
            <a:ext cx="5349240" cy="1810512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局部数据：天然隔离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每个用例内部新建局部变量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 todos = [] 就是干净开局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不需要额外清理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7920" y="1389888"/>
            <a:ext cx="5349240" cy="1810512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共享状态：必须清理</a:t>
            </a:r>
            <a:endParaRPr sz="20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模块级变量、localStorage、全局 DOM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会跨用例互相污染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必须用 beforeEach / afterEach 重置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3767328"/>
            <a:ext cx="5943600" cy="1627632"/>
          </a:xfrm>
          <a:prstGeom prst="roundRect">
            <a:avLst>
              <a:gd name="adj" fmla="val 3000"/>
            </a:avLst>
          </a:prstGeom>
          <a:solidFill>
            <a:srgbClr val="2B2B2B"/>
          </a:solidFill>
          <a:ln w="1270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涉及共享资源时必须写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beforeEach(()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localStorage.clear();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594360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清理示例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0" y="3858768"/>
            <a:ext cx="4754880" cy="281635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判断标准不是语言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Java 要 @BeforeEach，不是语言差异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而是「用例之间有没有共享状态」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有共享，就必须清理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5742432"/>
            <a:ext cx="11292840" cy="621792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隔离做得好，测试才敢随便重跑 —— 否则单测会变成「跑第二次就红」的玄学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单元测试在代码重构中的作用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27080" cy="658368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写码成本极低 —— 遇到 Bug，直接让它重新生成整个函数</a:t>
            </a:r>
            <a:endParaRPr sz="21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2121408"/>
            <a:ext cx="10927080" cy="77724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重新生成之后，你怎么敢保证旧功能没被搞坏？</a:t>
            </a:r>
            <a:endParaRPr sz="22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3035808"/>
            <a:ext cx="10927080" cy="1298448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单测的作用：验证代码行为是否发生变化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测试全绿，是替换代码的依据；而测试是否充分，决定了这份依据有多可靠。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4498848"/>
            <a:ext cx="2606040" cy="9601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需求变了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或要修一个 Bug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10712" y="4498848"/>
            <a:ext cx="2606040" cy="9601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让 AI 重写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整个函数重新生成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81344" y="4498848"/>
            <a:ext cx="2606040" cy="96012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跑 npm run test</a:t>
            </a:r>
            <a:endParaRPr sz="18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旧用例全部跑一遍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951976" y="4498848"/>
            <a:ext cx="2606040" cy="96012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全绿才敢换</a:t>
            </a:r>
            <a:endParaRPr sz="18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有红灯就不能替换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5650992"/>
            <a:ext cx="11292840" cy="621792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既然单测是安全绳，能让 AI 帮我们写吗？可以 —— 但我们要懂怎么审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生成测试的典型风险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98448"/>
            <a:ext cx="10927080" cy="658368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综合现有代码与需求生成测试 —— 需求不明确时，它只能照着实现猜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2084831"/>
            <a:ext cx="2606040" cy="196596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依赖现有实现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代码有 Bug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它把 Bug 当预期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410712" y="2084831"/>
            <a:ext cx="2606040" cy="196596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边界遗漏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需求没写明的边界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它往往直接漏掉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81344" y="2084831"/>
            <a:ext cx="2606040" cy="196596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断言强度不足</a:t>
            </a:r>
            <a:endParaRPr sz="19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断言写得太弱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关键错误照样通过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951976" y="2084831"/>
            <a:ext cx="2606040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常识错位</a:t>
            </a:r>
            <a:endParaRPr sz="1900" b="1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按通用常识补边界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漏掉业务特有异常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4224528"/>
            <a:ext cx="10927080" cy="1325880"/>
          </a:xfrm>
          <a:prstGeom prst="roundRect">
            <a:avLst>
              <a:gd name="adj" fmla="val 3000"/>
            </a:avLst>
          </a:prstGeom>
          <a:solidFill>
            <a:srgbClr val="4874C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人比 AI 强的地方，不是写代码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 —— 定义什么是对的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5687568"/>
            <a:ext cx="11292840" cy="621792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AI 照着代码</a:t>
            </a:r>
            <a:r>
              <a:rPr lang="zh-CN"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和要求</a:t>
            </a: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写测试，人照着需求</a:t>
            </a:r>
            <a:r>
              <a:rPr lang="zh-CN"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题要求、</a:t>
            </a: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审测试 —— 这就是不可替代的分工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引导 AI 生成测试：用结构化 Prompt 约束维度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152144"/>
            <a:ext cx="3611880" cy="100584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问题：模糊指令</a:t>
            </a:r>
            <a:endParaRPr sz="18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只说「帮我写两个单测」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只覆盖正常路径，边界靠猜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297680" y="1152144"/>
            <a:ext cx="3611880" cy="100584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方案：结构化约束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契约与维度显式写进 Prompt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用清单替代模糊的自然语言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138160" y="1152144"/>
            <a:ext cx="3611880" cy="100584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闭环：人终审</a:t>
            </a:r>
            <a:endParaRPr sz="18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按三大原则审查生成的代码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补齐 AI 漏掉的业务边界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304288"/>
            <a:ext cx="11292840" cy="3493008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我有一段 TypeScript 代码 addTodo，业务契约如下：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1. 输入合法文本，添加任务。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2. 输入纯空格、空字符串或 null，拒绝添加。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3. 系统应拦截包含 &lt;script&gt; 的注入代码（不允许原样存入）。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请使用 Vitest 编写测试。要求按以下维度覆盖：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 正常路径：合法文本添加。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 维度1（空值）：传入 null，验证是否拦截。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 维度2（格式）：传入空字符串、纯空格，验证是否拦截。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 维度6（重复）：连续添加相同文本，验证是否符合契约。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 维度9（安全）：传入 &lt;script&gt;，断言存入的数据不含原样脚本标签。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断言要求：验证具体业务结果（如文本内容），不能只写 toBeDefined。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请在每个 test 上方用注释标明对应的测试维度。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5852160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维度写进 Prompt，AI 漏没漏一眼可见 —— 这份维度表同时就是审查清单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测试审查的三个核心原则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950976"/>
            <a:ext cx="10927080" cy="402336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需求契约：拦截纯空格；正常输入时文本内容应正确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773936"/>
            <a:ext cx="5486400" cy="1444752"/>
          </a:xfrm>
          <a:prstGeom prst="roundRect">
            <a:avLst>
              <a:gd name="adj" fmla="val 3000"/>
            </a:avLst>
          </a:prstGeom>
          <a:solidFill>
            <a:srgbClr val="B53A48"/>
          </a:solidFill>
          <a:ln w="12700">
            <a:solidFill>
              <a:srgbClr val="B5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addTodo(todos, text)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(!text) return;   // 漏判纯空格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todos.push({ text, completed: false 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08176"/>
            <a:ext cx="5486400" cy="38989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 Bug</a:t>
            </a: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的代码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53328" y="1773936"/>
            <a:ext cx="5623560" cy="1938528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test('拦截纯空格',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expect(todos.length).toBe(1);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test('正常添加',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expect(todos[0]).toBeDefined();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53328" y="1408176"/>
            <a:ext cx="5623560" cy="38989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写的测试</a:t>
            </a:r>
            <a:r>
              <a:rPr lang="zh-CN"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可能是</a:t>
            </a:r>
            <a:endParaRPr lang="zh-CN"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749039"/>
          <a:ext cx="10927080" cy="23957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80360"/>
                <a:gridCol w="4663440"/>
                <a:gridCol w="3383280"/>
              </a:tblGrid>
              <a:tr h="5989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原则（三问）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错误分析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修正动作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5989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① 契约一致性
预期符合需求吗？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把「没拦空格」写成预期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对照需求改为 toBe(0)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989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② 断言有效性
能识别关键错误吗？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实现改错，toBeDefined 仍通过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改为 toBe('学习TS')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989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③ 边界覆盖
重要边界测了吗？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没明确提示时只写正常路径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补空串、无效 id 用例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本周小结：三条产出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83280" cy="21031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TS 定义结构与收窄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interface 描述数据结构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用收窄处理空值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分清结构类型与名义类型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89120" y="1417320"/>
            <a:ext cx="3383280" cy="210312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写出有效的单测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先看清函数的契约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覆盖正常与边界路径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共享状态要清理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3383280" cy="210312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审查 AI 的测试</a:t>
            </a:r>
            <a:endParaRPr sz="19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契约·断言·边界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三问逐条对照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不合格就改到达标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749040"/>
            <a:ext cx="10698480" cy="163068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类型检查通过不等于逻辑正确；测试通过不等于测试充分。</a:t>
            </a:r>
            <a:endParaRPr sz="20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可以生成代码，但需要人工验证。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可以生成测试代码，人工验证后，可以用</a:t>
            </a:r>
            <a:r>
              <a:rPr lang="en-US" alt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测试代码</a:t>
            </a:r>
            <a:r>
              <a:rPr lang="en-US" alt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守护</a:t>
            </a:r>
            <a:r>
              <a:rPr lang="en-US" alt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业务代码</a:t>
            </a:r>
            <a:r>
              <a:rPr lang="en-US" alt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的再次生成。</a:t>
            </a:r>
            <a:endParaRPr lang="zh-CN" altLang="en-US"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2"/>
  <p:tag name="KSO_WM_UNIT_ID" val="_1*y*2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3"/>
  <p:tag name="KSO_WM_UNIT_ID" val="_1*y*3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4"/>
  <p:tag name="KSO_WM_UNIT_ID" val="_1*y*4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2*i*3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2*i*4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3*i*2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3*i*4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4*i*1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4*i*4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5*i*1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5*i*4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6*i*4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7*i*4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8*i*7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8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8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SHOW_EDIT_AREA_INDICATION" val="0"/>
  <p:tag name="KSO_WM_TEMPLATE_THUMBS_INDEX" val="1、4、5、6、7、8、9、11、13"/>
  <p:tag name="KSO_WM_TEMPLATE_SUBCATEGORY" val="0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8"/>
  <p:tag name="KSO_WM_TEMPLATE_MASTER_TYPE" val="1"/>
</p:tagLst>
</file>

<file path=ppt/tags/tag192.xml><?xml version="1.0" encoding="utf-8"?>
<p:tagLst xmlns:p="http://schemas.openxmlformats.org/presentationml/2006/main">
  <p:tag name="KSO_WM_DIAGRAM_VIRTUALLY_FRAME" val="{&quot;height&quot;:298.08000000000004,&quot;left&quot;:50.4,&quot;top&quot;:108,&quot;width&quot;:860.4}"/>
</p:tagLst>
</file>

<file path=ppt/tags/tag193.xml><?xml version="1.0" encoding="utf-8"?>
<p:tagLst xmlns:p="http://schemas.openxmlformats.org/presentationml/2006/main">
  <p:tag name="KSO_WM_DIAGRAM_VIRTUALLY_FRAME" val="{&quot;height&quot;:298.08000000000004,&quot;left&quot;:50.4,&quot;top&quot;:108,&quot;width&quot;:860.4}"/>
</p:tagLst>
</file>

<file path=ppt/tags/tag194.xml><?xml version="1.0" encoding="utf-8"?>
<p:tagLst xmlns:p="http://schemas.openxmlformats.org/presentationml/2006/main">
  <p:tag name="KSO_WM_DIAGRAM_VIRTUALLY_FRAME" val="{&quot;height&quot;:298.08000000000004,&quot;left&quot;:50.4,&quot;top&quot;:108,&quot;width&quot;:860.4}"/>
</p:tagLst>
</file>

<file path=ppt/tags/tag195.xml><?xml version="1.0" encoding="utf-8"?>
<p:tagLst xmlns:p="http://schemas.openxmlformats.org/presentationml/2006/main">
  <p:tag name="KSO_WM_DIAGRAM_VIRTUALLY_FRAME" val="{&quot;height&quot;:298.08000000000004,&quot;left&quot;:50.4,&quot;top&quot;:108,&quot;width&quot;:860.4}"/>
</p:tagLst>
</file>

<file path=ppt/tags/tag196.xml><?xml version="1.0" encoding="utf-8"?>
<p:tagLst xmlns:p="http://schemas.openxmlformats.org/presentationml/2006/main">
  <p:tag name="KSO_WM_DIAGRAM_VIRTUALLY_FRAME" val="{&quot;height&quot;:298.08000000000004,&quot;left&quot;:50.4,&quot;top&quot;:108,&quot;width&quot;:860.4}"/>
</p:tagLst>
</file>

<file path=ppt/tags/tag197.xml><?xml version="1.0" encoding="utf-8"?>
<p:tagLst xmlns:p="http://schemas.openxmlformats.org/presentationml/2006/main">
  <p:tag name="KSO_WM_DIAGRAM_VIRTUALLY_FRAME" val="{&quot;height&quot;:298.08000000000004,&quot;left&quot;:50.4,&quot;top&quot;:108,&quot;width&quot;:860.4}"/>
</p:tagLst>
</file>

<file path=ppt/tags/tag198.xml><?xml version="1.0" encoding="utf-8"?>
<p:tagLst xmlns:p="http://schemas.openxmlformats.org/presentationml/2006/main">
  <p:tag name="commondata" val="eyJoZGlkIjoiMmJjNjQ4Nzg3M2YyZjZkNGVhYWUxNjZmMjIyOWVhMG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5D53C4"/>
      </a:accent1>
      <a:accent2>
        <a:srgbClr val="815EC5"/>
      </a:accent2>
      <a:accent3>
        <a:srgbClr val="4B58C3"/>
      </a:accent3>
      <a:accent4>
        <a:srgbClr val="5697A8"/>
      </a:accent4>
      <a:accent5>
        <a:srgbClr val="54AD9D"/>
      </a:accent5>
      <a:accent6>
        <a:srgbClr val="53C495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8280</Words>
  <Application>WPS 演示</Application>
  <PresentationFormat>宽屏</PresentationFormat>
  <Paragraphs>654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汉仪旗黑-85S</vt:lpstr>
      <vt:lpstr>黑体</vt:lpstr>
      <vt:lpstr>隶书</vt:lpstr>
      <vt:lpstr>Viner Hand ITC</vt:lpstr>
      <vt:lpstr>Consolas</vt:lpstr>
      <vt:lpstr>Consolas</vt:lpstr>
      <vt:lpstr>Arial Unicode MS</vt:lpstr>
      <vt:lpstr>Calibri</vt:lpstr>
      <vt:lpstr>Mongolian Baiti</vt:lpstr>
      <vt:lpstr>Consolas</vt:lpstr>
      <vt:lpstr>汉仪旗黑-85S</vt:lpstr>
      <vt:lpstr>隶书</vt:lpstr>
      <vt:lpstr>汉仪旗黑Y4-85简</vt:lpstr>
      <vt:lpstr>刘炳森隶书</vt:lpstr>
      <vt:lpstr>Kabel ITC</vt:lpstr>
      <vt:lpstr>WPS</vt:lpstr>
      <vt:lpstr>1_Office 主题​​</vt:lpstr>
      <vt:lpstr>Web编程</vt:lpstr>
      <vt:lpstr>引入：AIGC 时代的代码质量挑战</vt:lpstr>
      <vt:lpstr>语言演进：类型系统的作用与边界</vt:lpstr>
      <vt:lpstr>静态类型检查与类型擦除</vt:lpstr>
      <vt:lpstr>结构类型系统与名义类型系统</vt:lpstr>
      <vt:lpstr>场景 A：契约先行（Interface 的作用范围）</vt:lpstr>
      <vt:lpstr>场景 B：空值收窄（处理 null 类型）</vt:lpstr>
      <vt:lpstr>类型收窄的四种手段与风险</vt:lpstr>
      <vt:lpstr>场景 C：状态收束（字面量联合类型）</vt:lpstr>
      <vt:lpstr>重构分析：类型不匹配的暴露与处理</vt:lpstr>
      <vt:lpstr>PowerPoint 演示文稿</vt:lpstr>
      <vt:lpstr>Node.js 与 npm 的作用</vt:lpstr>
      <vt:lpstr>Vite 的核心职责与支持范围</vt:lpstr>
      <vt:lpstr>Vitest 测试框架与运行环境</vt:lpstr>
      <vt:lpstr>模块导入：显式依赖声明</vt:lpstr>
      <vt:lpstr>单测核心语法：test / expect / toBe</vt:lpstr>
      <vt:lpstr>测试用例的两个维度：正常行为与错误处理</vt:lpstr>
      <vt:lpstr>异常值与安全测试的 9 个维度</vt:lpstr>
      <vt:lpstr>测试环境的隔离与清理</vt:lpstr>
      <vt:lpstr>单元测试在代码重构中的作用</vt:lpstr>
      <vt:lpstr>AI 生成测试的典型风险</vt:lpstr>
      <vt:lpstr>引导 AI 生成测试：用结构化 Prompt 约束维度</vt:lpstr>
      <vt:lpstr>测试审查的三个核心原则</vt:lpstr>
      <vt:lpstr>本周小结：三条产出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Hawk Cai</dc:creator>
  <cp:lastModifiedBy>蔡树彬</cp:lastModifiedBy>
  <cp:revision>171</cp:revision>
  <dcterms:created xsi:type="dcterms:W3CDTF">2023-08-09T12:44:00Z</dcterms:created>
  <dcterms:modified xsi:type="dcterms:W3CDTF">2026-10-27T04:19:58Z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2052-12.1.0.29161</vt:lpwstr>
  </property>
</Properties>
</file>